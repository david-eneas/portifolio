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82" r:id="rId4"/>
    <p:sldId id="258" r:id="rId5"/>
    <p:sldId id="290" r:id="rId6"/>
    <p:sldId id="291" r:id="rId7"/>
  </p:sldIdLst>
  <p:sldSz cx="9144000" cy="5143500" type="screen16x9"/>
  <p:notesSz cx="6858000" cy="9144000"/>
  <p:embeddedFontLst>
    <p:embeddedFont>
      <p:font typeface="Fira Sans Extra Condensed" panose="020B0503050000020004" pitchFamily="34" charset="0"/>
      <p:regular r:id="rId9"/>
      <p:bold r:id="rId10"/>
      <p:italic r:id="rId11"/>
      <p:boldItalic r:id="rId12"/>
    </p:embeddedFont>
    <p:embeddedFont>
      <p:font typeface="Fira Sans Extra Condensed Medium" panose="020B0604020202020204" charset="0"/>
      <p:regular r:id="rId13"/>
      <p:bold r:id="rId14"/>
      <p:italic r:id="rId15"/>
      <p:boldItalic r:id="rId16"/>
    </p:embeddedFont>
    <p:embeddedFont>
      <p:font typeface="Roboto" panose="020000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990">
          <p15:clr>
            <a:srgbClr val="9AA0A6"/>
          </p15:clr>
        </p15:guide>
        <p15:guide id="4" orient="horz" pos="534">
          <p15:clr>
            <a:srgbClr val="9AA0A6"/>
          </p15:clr>
        </p15:guide>
        <p15:guide id="5" orient="horz" pos="1077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24E5EA6-E3FA-4480-AFDA-8EF50441F920}">
  <a:tblStyle styleId="{624E5EA6-E3FA-4480-AFDA-8EF50441F92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80" autoAdjust="0"/>
    <p:restoredTop sz="94660"/>
  </p:normalViewPr>
  <p:slideViewPr>
    <p:cSldViewPr snapToGrid="0">
      <p:cViewPr varScale="1">
        <p:scale>
          <a:sx n="88" d="100"/>
          <a:sy n="88" d="100"/>
        </p:scale>
        <p:origin x="930" y="84"/>
      </p:cViewPr>
      <p:guideLst>
        <p:guide orient="horz" pos="1620"/>
        <p:guide pos="2880"/>
        <p:guide pos="990"/>
        <p:guide orient="horz" pos="534"/>
        <p:guide orient="horz" pos="107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ac1689e58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ac1689e583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gac1689e583_0_8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8" name="Google Shape;1148;gac1689e583_0_8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ac1689e583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ac1689e583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95CCAE9E-70D6-22C9-15FA-84F8D5363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ac1689e583_0_8:notes">
            <a:extLst>
              <a:ext uri="{FF2B5EF4-FFF2-40B4-BE49-F238E27FC236}">
                <a16:creationId xmlns:a16="http://schemas.microsoft.com/office/drawing/2014/main" id="{6676D64B-0EE0-714A-4A62-6CCB7F0AF7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ac1689e583_0_8:notes">
            <a:extLst>
              <a:ext uri="{FF2B5EF4-FFF2-40B4-BE49-F238E27FC236}">
                <a16:creationId xmlns:a16="http://schemas.microsoft.com/office/drawing/2014/main" id="{56475D53-895F-05C0-8FDE-4F634D3F78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59282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64ED71D0-5F81-0A15-4272-EA18950F0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ac1689e583_0_8:notes">
            <a:extLst>
              <a:ext uri="{FF2B5EF4-FFF2-40B4-BE49-F238E27FC236}">
                <a16:creationId xmlns:a16="http://schemas.microsoft.com/office/drawing/2014/main" id="{F946EF62-5EDE-F7FB-E728-376DA6B1E5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ac1689e583_0_8:notes">
            <a:extLst>
              <a:ext uri="{FF2B5EF4-FFF2-40B4-BE49-F238E27FC236}">
                <a16:creationId xmlns:a16="http://schemas.microsoft.com/office/drawing/2014/main" id="{D087B761-1999-BD4F-B596-450BC46ED0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0062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431150" y="1152450"/>
            <a:ext cx="6281700" cy="12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182100" y="2834125"/>
            <a:ext cx="4779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>
            <a:spLocks noGrp="1"/>
          </p:cNvSpPr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8229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">
          <p15:clr>
            <a:srgbClr val="EA4335"/>
          </p15:clr>
        </p15:guide>
        <p15:guide id="2" pos="5472">
          <p15:clr>
            <a:srgbClr val="EA4335"/>
          </p15:clr>
        </p15:guide>
        <p15:guide id="3" orient="horz" pos="259">
          <p15:clr>
            <a:srgbClr val="EA4335"/>
          </p15:clr>
        </p15:guide>
        <p15:guide id="4" orient="horz" pos="298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>
            <a:spLocks noGrp="1"/>
          </p:cNvSpPr>
          <p:nvPr>
            <p:ph type="ctrTitle"/>
          </p:nvPr>
        </p:nvSpPr>
        <p:spPr>
          <a:xfrm>
            <a:off x="755350" y="1287450"/>
            <a:ext cx="3816600" cy="23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0" dirty="0">
                <a:solidFill>
                  <a:schemeClr val="bg1"/>
                </a:solidFill>
              </a:rPr>
              <a:t>Analise e Estratégia Logística</a:t>
            </a:r>
            <a:endParaRPr sz="5000" dirty="0">
              <a:solidFill>
                <a:schemeClr val="bg1"/>
              </a:solidFill>
            </a:endParaRPr>
          </a:p>
        </p:txBody>
      </p:sp>
      <p:sp>
        <p:nvSpPr>
          <p:cNvPr id="55" name="Google Shape;55;p15"/>
          <p:cNvSpPr txBox="1">
            <a:spLocks noGrp="1"/>
          </p:cNvSpPr>
          <p:nvPr>
            <p:ph type="subTitle" idx="1"/>
          </p:nvPr>
        </p:nvSpPr>
        <p:spPr>
          <a:xfrm>
            <a:off x="755466" y="3627150"/>
            <a:ext cx="3816600" cy="4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 dirty="0">
                <a:solidFill>
                  <a:schemeClr val="bg1"/>
                </a:solidFill>
              </a:rPr>
              <a:t>Insights de </a:t>
            </a:r>
            <a:r>
              <a:rPr lang="en-GB" sz="1500" dirty="0" err="1">
                <a:solidFill>
                  <a:schemeClr val="bg1"/>
                </a:solidFill>
              </a:rPr>
              <a:t>operações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6" name="Google Shape;56;p15"/>
          <p:cNvSpPr/>
          <p:nvPr/>
        </p:nvSpPr>
        <p:spPr>
          <a:xfrm>
            <a:off x="7806563" y="3130301"/>
            <a:ext cx="582077" cy="986437"/>
          </a:xfrm>
          <a:custGeom>
            <a:avLst/>
            <a:gdLst/>
            <a:ahLst/>
            <a:cxnLst/>
            <a:rect l="l" t="t" r="r" b="b"/>
            <a:pathLst>
              <a:path w="14813" h="23889" extrusionOk="0">
                <a:moveTo>
                  <a:pt x="1" y="0"/>
                </a:moveTo>
                <a:lnTo>
                  <a:pt x="1" y="23888"/>
                </a:lnTo>
                <a:lnTo>
                  <a:pt x="14813" y="11944"/>
                </a:lnTo>
                <a:lnTo>
                  <a:pt x="1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57" name="Google Shape;57;p15"/>
          <p:cNvSpPr/>
          <p:nvPr/>
        </p:nvSpPr>
        <p:spPr>
          <a:xfrm>
            <a:off x="7806563" y="2054550"/>
            <a:ext cx="582077" cy="986437"/>
          </a:xfrm>
          <a:custGeom>
            <a:avLst/>
            <a:gdLst/>
            <a:ahLst/>
            <a:cxnLst/>
            <a:rect l="l" t="t" r="r" b="b"/>
            <a:pathLst>
              <a:path w="14813" h="23889" extrusionOk="0">
                <a:moveTo>
                  <a:pt x="1" y="1"/>
                </a:moveTo>
                <a:lnTo>
                  <a:pt x="1" y="23888"/>
                </a:lnTo>
                <a:lnTo>
                  <a:pt x="14813" y="11945"/>
                </a:lnTo>
                <a:lnTo>
                  <a:pt x="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7806563" y="889125"/>
            <a:ext cx="582077" cy="986458"/>
          </a:xfrm>
          <a:custGeom>
            <a:avLst/>
            <a:gdLst/>
            <a:ahLst/>
            <a:cxnLst/>
            <a:rect l="l" t="t" r="r" b="b"/>
            <a:pathLst>
              <a:path w="14813" h="23904" extrusionOk="0">
                <a:moveTo>
                  <a:pt x="1" y="0"/>
                </a:moveTo>
                <a:lnTo>
                  <a:pt x="1" y="23904"/>
                </a:lnTo>
                <a:lnTo>
                  <a:pt x="14813" y="11960"/>
                </a:lnTo>
                <a:lnTo>
                  <a:pt x="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700"/>
          </a:p>
        </p:txBody>
      </p:sp>
      <p:sp>
        <p:nvSpPr>
          <p:cNvPr id="59" name="Google Shape;59;p15"/>
          <p:cNvSpPr txBox="1"/>
          <p:nvPr/>
        </p:nvSpPr>
        <p:spPr>
          <a:xfrm>
            <a:off x="6323361" y="1220834"/>
            <a:ext cx="10608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Mercury</a:t>
            </a:r>
            <a:endParaRPr sz="17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60" name="Google Shape;60;p15"/>
          <p:cNvSpPr txBox="1"/>
          <p:nvPr/>
        </p:nvSpPr>
        <p:spPr>
          <a:xfrm>
            <a:off x="7468508" y="1220847"/>
            <a:ext cx="3381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01</a:t>
            </a:r>
            <a:endParaRPr sz="28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61" name="Google Shape;61;p15"/>
          <p:cNvSpPr txBox="1"/>
          <p:nvPr/>
        </p:nvSpPr>
        <p:spPr>
          <a:xfrm>
            <a:off x="6323361" y="2368705"/>
            <a:ext cx="10608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Venus</a:t>
            </a:r>
            <a:endParaRPr sz="17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62" name="Google Shape;62;p15"/>
          <p:cNvSpPr txBox="1"/>
          <p:nvPr/>
        </p:nvSpPr>
        <p:spPr>
          <a:xfrm>
            <a:off x="7384034" y="2368718"/>
            <a:ext cx="4227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02</a:t>
            </a:r>
            <a:endParaRPr sz="28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63" name="Google Shape;63;p15"/>
          <p:cNvSpPr txBox="1"/>
          <p:nvPr/>
        </p:nvSpPr>
        <p:spPr>
          <a:xfrm>
            <a:off x="6323361" y="3453329"/>
            <a:ext cx="10608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Jupiter</a:t>
            </a:r>
            <a:endParaRPr sz="17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7384034" y="3453342"/>
            <a:ext cx="4227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03</a:t>
            </a:r>
            <a:endParaRPr sz="28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6005922" y="3278156"/>
            <a:ext cx="1843325" cy="690778"/>
          </a:xfrm>
          <a:custGeom>
            <a:avLst/>
            <a:gdLst/>
            <a:ahLst/>
            <a:cxnLst/>
            <a:rect l="l" t="t" r="r" b="b"/>
            <a:pathLst>
              <a:path w="50613" h="18967" extrusionOk="0">
                <a:moveTo>
                  <a:pt x="2524" y="0"/>
                </a:moveTo>
                <a:cubicBezTo>
                  <a:pt x="1129" y="0"/>
                  <a:pt x="0" y="1129"/>
                  <a:pt x="0" y="2524"/>
                </a:cubicBezTo>
                <a:lnTo>
                  <a:pt x="0" y="18966"/>
                </a:lnTo>
                <a:lnTo>
                  <a:pt x="50613" y="18966"/>
                </a:lnTo>
                <a:lnTo>
                  <a:pt x="5061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66" name="Google Shape;66;p15"/>
          <p:cNvSpPr/>
          <p:nvPr/>
        </p:nvSpPr>
        <p:spPr>
          <a:xfrm>
            <a:off x="6005922" y="3358061"/>
            <a:ext cx="338087" cy="210435"/>
          </a:xfrm>
          <a:custGeom>
            <a:avLst/>
            <a:gdLst/>
            <a:ahLst/>
            <a:cxnLst/>
            <a:rect l="l" t="t" r="r" b="b"/>
            <a:pathLst>
              <a:path w="9283" h="5778" extrusionOk="0">
                <a:moveTo>
                  <a:pt x="0" y="1"/>
                </a:moveTo>
                <a:lnTo>
                  <a:pt x="0" y="5643"/>
                </a:lnTo>
                <a:cubicBezTo>
                  <a:pt x="792" y="5735"/>
                  <a:pt x="1526" y="5777"/>
                  <a:pt x="2205" y="5777"/>
                </a:cubicBezTo>
                <a:cubicBezTo>
                  <a:pt x="7332" y="5777"/>
                  <a:pt x="9283" y="3360"/>
                  <a:pt x="8715" y="1505"/>
                </a:cubicBezTo>
                <a:cubicBezTo>
                  <a:pt x="8511" y="832"/>
                  <a:pt x="8234" y="601"/>
                  <a:pt x="7735" y="601"/>
                </a:cubicBezTo>
                <a:cubicBezTo>
                  <a:pt x="7049" y="601"/>
                  <a:pt x="5943" y="1038"/>
                  <a:pt x="4029" y="1364"/>
                </a:cubicBezTo>
                <a:cubicBezTo>
                  <a:pt x="3652" y="1430"/>
                  <a:pt x="3307" y="1459"/>
                  <a:pt x="2992" y="1459"/>
                </a:cubicBezTo>
                <a:cubicBezTo>
                  <a:pt x="747" y="1459"/>
                  <a:pt x="0" y="1"/>
                  <a:pt x="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5"/>
          <p:cNvSpPr/>
          <p:nvPr/>
        </p:nvSpPr>
        <p:spPr>
          <a:xfrm>
            <a:off x="5028600" y="3464807"/>
            <a:ext cx="1294767" cy="789549"/>
          </a:xfrm>
          <a:custGeom>
            <a:avLst/>
            <a:gdLst/>
            <a:ahLst/>
            <a:cxnLst/>
            <a:rect l="l" t="t" r="r" b="b"/>
            <a:pathLst>
              <a:path w="35551" h="21679" extrusionOk="0">
                <a:moveTo>
                  <a:pt x="35550" y="1"/>
                </a:moveTo>
                <a:cubicBezTo>
                  <a:pt x="34514" y="2409"/>
                  <a:pt x="26958" y="3041"/>
                  <a:pt x="19320" y="3041"/>
                </a:cubicBezTo>
                <a:cubicBezTo>
                  <a:pt x="10902" y="3041"/>
                  <a:pt x="2383" y="2274"/>
                  <a:pt x="2383" y="2274"/>
                </a:cubicBezTo>
                <a:cubicBezTo>
                  <a:pt x="1082" y="2274"/>
                  <a:pt x="1" y="3339"/>
                  <a:pt x="1" y="4656"/>
                </a:cubicBezTo>
                <a:lnTo>
                  <a:pt x="1" y="19312"/>
                </a:lnTo>
                <a:cubicBezTo>
                  <a:pt x="1" y="20613"/>
                  <a:pt x="1082" y="21678"/>
                  <a:pt x="2383" y="21678"/>
                </a:cubicBezTo>
                <a:lnTo>
                  <a:pt x="33183" y="21678"/>
                </a:lnTo>
                <a:cubicBezTo>
                  <a:pt x="34484" y="21678"/>
                  <a:pt x="35550" y="20613"/>
                  <a:pt x="35550" y="19312"/>
                </a:cubicBezTo>
                <a:lnTo>
                  <a:pt x="3555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6005922" y="2204941"/>
            <a:ext cx="1843325" cy="691361"/>
          </a:xfrm>
          <a:custGeom>
            <a:avLst/>
            <a:gdLst/>
            <a:ahLst/>
            <a:cxnLst/>
            <a:rect l="l" t="t" r="r" b="b"/>
            <a:pathLst>
              <a:path w="50613" h="18983" extrusionOk="0">
                <a:moveTo>
                  <a:pt x="2524" y="1"/>
                </a:moveTo>
                <a:cubicBezTo>
                  <a:pt x="1129" y="1"/>
                  <a:pt x="0" y="1129"/>
                  <a:pt x="0" y="2524"/>
                </a:cubicBezTo>
                <a:lnTo>
                  <a:pt x="0" y="18982"/>
                </a:lnTo>
                <a:lnTo>
                  <a:pt x="50613" y="18982"/>
                </a:lnTo>
                <a:lnTo>
                  <a:pt x="5061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6005922" y="2284846"/>
            <a:ext cx="338050" cy="210580"/>
          </a:xfrm>
          <a:custGeom>
            <a:avLst/>
            <a:gdLst/>
            <a:ahLst/>
            <a:cxnLst/>
            <a:rect l="l" t="t" r="r" b="b"/>
            <a:pathLst>
              <a:path w="9282" h="5782" extrusionOk="0">
                <a:moveTo>
                  <a:pt x="0" y="1"/>
                </a:moveTo>
                <a:lnTo>
                  <a:pt x="0" y="5644"/>
                </a:lnTo>
                <a:cubicBezTo>
                  <a:pt x="801" y="5738"/>
                  <a:pt x="1544" y="5782"/>
                  <a:pt x="2230" y="5782"/>
                </a:cubicBezTo>
                <a:cubicBezTo>
                  <a:pt x="7338" y="5782"/>
                  <a:pt x="9282" y="3358"/>
                  <a:pt x="8715" y="1506"/>
                </a:cubicBezTo>
                <a:cubicBezTo>
                  <a:pt x="8510" y="838"/>
                  <a:pt x="8232" y="608"/>
                  <a:pt x="7731" y="608"/>
                </a:cubicBezTo>
                <a:cubicBezTo>
                  <a:pt x="7045" y="608"/>
                  <a:pt x="5940" y="1039"/>
                  <a:pt x="4029" y="1365"/>
                </a:cubicBezTo>
                <a:cubicBezTo>
                  <a:pt x="3652" y="1430"/>
                  <a:pt x="3307" y="1459"/>
                  <a:pt x="2992" y="1459"/>
                </a:cubicBezTo>
                <a:cubicBezTo>
                  <a:pt x="747" y="1459"/>
                  <a:pt x="0" y="1"/>
                  <a:pt x="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5028600" y="2391628"/>
            <a:ext cx="1294767" cy="790095"/>
          </a:xfrm>
          <a:custGeom>
            <a:avLst/>
            <a:gdLst/>
            <a:ahLst/>
            <a:cxnLst/>
            <a:rect l="l" t="t" r="r" b="b"/>
            <a:pathLst>
              <a:path w="35551" h="21694" extrusionOk="0">
                <a:moveTo>
                  <a:pt x="35550" y="0"/>
                </a:moveTo>
                <a:cubicBezTo>
                  <a:pt x="34515" y="2413"/>
                  <a:pt x="26978" y="3046"/>
                  <a:pt x="19350" y="3046"/>
                </a:cubicBezTo>
                <a:cubicBezTo>
                  <a:pt x="10922" y="3046"/>
                  <a:pt x="2383" y="2273"/>
                  <a:pt x="2383" y="2273"/>
                </a:cubicBezTo>
                <a:cubicBezTo>
                  <a:pt x="1082" y="2273"/>
                  <a:pt x="1" y="3354"/>
                  <a:pt x="1" y="4655"/>
                </a:cubicBezTo>
                <a:lnTo>
                  <a:pt x="1" y="19311"/>
                </a:lnTo>
                <a:cubicBezTo>
                  <a:pt x="1" y="20612"/>
                  <a:pt x="1082" y="21693"/>
                  <a:pt x="2383" y="21693"/>
                </a:cubicBezTo>
                <a:lnTo>
                  <a:pt x="33183" y="21693"/>
                </a:lnTo>
                <a:cubicBezTo>
                  <a:pt x="34484" y="21693"/>
                  <a:pt x="35550" y="20612"/>
                  <a:pt x="35550" y="19311"/>
                </a:cubicBezTo>
                <a:lnTo>
                  <a:pt x="355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6005922" y="1036415"/>
            <a:ext cx="1843325" cy="691324"/>
          </a:xfrm>
          <a:custGeom>
            <a:avLst/>
            <a:gdLst/>
            <a:ahLst/>
            <a:cxnLst/>
            <a:rect l="l" t="t" r="r" b="b"/>
            <a:pathLst>
              <a:path w="50613" h="18982" extrusionOk="0">
                <a:moveTo>
                  <a:pt x="2524" y="0"/>
                </a:moveTo>
                <a:cubicBezTo>
                  <a:pt x="1129" y="0"/>
                  <a:pt x="0" y="1144"/>
                  <a:pt x="0" y="2539"/>
                </a:cubicBezTo>
                <a:lnTo>
                  <a:pt x="0" y="18982"/>
                </a:lnTo>
                <a:lnTo>
                  <a:pt x="50613" y="18982"/>
                </a:lnTo>
                <a:lnTo>
                  <a:pt x="5061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6005922" y="1116320"/>
            <a:ext cx="338050" cy="210617"/>
          </a:xfrm>
          <a:custGeom>
            <a:avLst/>
            <a:gdLst/>
            <a:ahLst/>
            <a:cxnLst/>
            <a:rect l="l" t="t" r="r" b="b"/>
            <a:pathLst>
              <a:path w="9282" h="5783" extrusionOk="0">
                <a:moveTo>
                  <a:pt x="0" y="1"/>
                </a:moveTo>
                <a:lnTo>
                  <a:pt x="0" y="5643"/>
                </a:lnTo>
                <a:cubicBezTo>
                  <a:pt x="805" y="5738"/>
                  <a:pt x="1551" y="5782"/>
                  <a:pt x="2239" y="5782"/>
                </a:cubicBezTo>
                <a:cubicBezTo>
                  <a:pt x="7341" y="5782"/>
                  <a:pt x="9281" y="3372"/>
                  <a:pt x="8715" y="1521"/>
                </a:cubicBezTo>
                <a:cubicBezTo>
                  <a:pt x="8510" y="845"/>
                  <a:pt x="8231" y="612"/>
                  <a:pt x="7728" y="612"/>
                </a:cubicBezTo>
                <a:cubicBezTo>
                  <a:pt x="7041" y="612"/>
                  <a:pt x="5937" y="1045"/>
                  <a:pt x="4029" y="1380"/>
                </a:cubicBezTo>
                <a:cubicBezTo>
                  <a:pt x="3662" y="1442"/>
                  <a:pt x="3325" y="1469"/>
                  <a:pt x="3016" y="1469"/>
                </a:cubicBezTo>
                <a:cubicBezTo>
                  <a:pt x="753" y="1469"/>
                  <a:pt x="0" y="1"/>
                  <a:pt x="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5028600" y="1223649"/>
            <a:ext cx="1294767" cy="789513"/>
          </a:xfrm>
          <a:custGeom>
            <a:avLst/>
            <a:gdLst/>
            <a:ahLst/>
            <a:cxnLst/>
            <a:rect l="l" t="t" r="r" b="b"/>
            <a:pathLst>
              <a:path w="35551" h="21678" extrusionOk="0">
                <a:moveTo>
                  <a:pt x="35550" y="0"/>
                </a:moveTo>
                <a:cubicBezTo>
                  <a:pt x="34514" y="2409"/>
                  <a:pt x="26958" y="3040"/>
                  <a:pt x="19320" y="3040"/>
                </a:cubicBezTo>
                <a:cubicBezTo>
                  <a:pt x="10902" y="3040"/>
                  <a:pt x="2383" y="2273"/>
                  <a:pt x="2383" y="2273"/>
                </a:cubicBezTo>
                <a:cubicBezTo>
                  <a:pt x="1082" y="2273"/>
                  <a:pt x="1" y="3339"/>
                  <a:pt x="1" y="4640"/>
                </a:cubicBezTo>
                <a:lnTo>
                  <a:pt x="1" y="19296"/>
                </a:lnTo>
                <a:cubicBezTo>
                  <a:pt x="1" y="20612"/>
                  <a:pt x="1082" y="21678"/>
                  <a:pt x="2383" y="21678"/>
                </a:cubicBezTo>
                <a:lnTo>
                  <a:pt x="33183" y="21678"/>
                </a:lnTo>
                <a:cubicBezTo>
                  <a:pt x="34484" y="21678"/>
                  <a:pt x="35550" y="20612"/>
                  <a:pt x="35550" y="19296"/>
                </a:cubicBezTo>
                <a:lnTo>
                  <a:pt x="355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B87C2A7-C718-8CAC-3879-B640F1E51AA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240" b="29908"/>
          <a:stretch/>
        </p:blipFill>
        <p:spPr>
          <a:xfrm>
            <a:off x="0" y="-1"/>
            <a:ext cx="1087484" cy="5638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>
            <a:spLocks noGrp="1"/>
          </p:cNvSpPr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>
                <a:solidFill>
                  <a:schemeClr val="bg1"/>
                </a:solidFill>
              </a:rPr>
              <a:t>Estratégia</a:t>
            </a:r>
            <a:endParaRPr dirty="0">
              <a:solidFill>
                <a:schemeClr val="bg1"/>
              </a:solidFill>
            </a:endParaRPr>
          </a:p>
        </p:txBody>
      </p:sp>
      <p:grpSp>
        <p:nvGrpSpPr>
          <p:cNvPr id="48" name="Agrupar 47">
            <a:extLst>
              <a:ext uri="{FF2B5EF4-FFF2-40B4-BE49-F238E27FC236}">
                <a16:creationId xmlns:a16="http://schemas.microsoft.com/office/drawing/2014/main" id="{39D0C2FB-B283-0042-5D32-C3C693625490}"/>
              </a:ext>
            </a:extLst>
          </p:cNvPr>
          <p:cNvGrpSpPr/>
          <p:nvPr/>
        </p:nvGrpSpPr>
        <p:grpSpPr>
          <a:xfrm>
            <a:off x="7389105" y="1506339"/>
            <a:ext cx="1491356" cy="2469762"/>
            <a:chOff x="6433444" y="1506339"/>
            <a:chExt cx="1491356" cy="2469762"/>
          </a:xfrm>
        </p:grpSpPr>
        <p:sp>
          <p:nvSpPr>
            <p:cNvPr id="83" name="Google Shape;83;p16"/>
            <p:cNvSpPr/>
            <p:nvPr/>
          </p:nvSpPr>
          <p:spPr>
            <a:xfrm flipH="1">
              <a:off x="6433444" y="2624862"/>
              <a:ext cx="1491355" cy="1351239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4" name="Google Shape;84;p16"/>
            <p:cNvSpPr/>
            <p:nvPr/>
          </p:nvSpPr>
          <p:spPr>
            <a:xfrm>
              <a:off x="6433445" y="1506339"/>
              <a:ext cx="1491355" cy="456745"/>
            </a:xfrm>
            <a:prstGeom prst="round1Rect">
              <a:avLst>
                <a:gd name="adj" fmla="val 30455"/>
              </a:avLst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6"/>
            <p:cNvSpPr/>
            <p:nvPr/>
          </p:nvSpPr>
          <p:spPr>
            <a:xfrm flipH="1">
              <a:off x="6433444" y="2065721"/>
              <a:ext cx="1491355" cy="45674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05" name="Google Shape;105;p16"/>
            <p:cNvSpPr txBox="1"/>
            <p:nvPr/>
          </p:nvSpPr>
          <p:spPr>
            <a:xfrm flipH="1">
              <a:off x="6706306" y="1632490"/>
              <a:ext cx="983222" cy="2308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 dirty="0" err="1">
                  <a:solidFill>
                    <a:schemeClr val="bg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Conclusão</a:t>
              </a:r>
              <a:endParaRPr sz="1800" dirty="0">
                <a:solidFill>
                  <a:schemeClr val="bg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07" name="Google Shape;107;p16"/>
            <p:cNvSpPr txBox="1"/>
            <p:nvPr/>
          </p:nvSpPr>
          <p:spPr>
            <a:xfrm flipH="1">
              <a:off x="6600245" y="2700601"/>
              <a:ext cx="1239664" cy="12058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b="1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Resumo</a:t>
              </a:r>
              <a:r>
                <a:rPr lang="en-GB" b="1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 e plano de </a:t>
              </a:r>
              <a:r>
                <a:rPr lang="en-GB" b="1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ação</a:t>
              </a:r>
              <a:r>
                <a:rPr lang="en-GB" b="1" dirty="0">
                  <a:latin typeface="Roboto"/>
                  <a:ea typeface="Roboto"/>
                  <a:cs typeface="Roboto"/>
                  <a:sym typeface="Roboto"/>
                </a:rPr>
                <a:t>.</a:t>
              </a:r>
              <a:endParaRPr sz="1600" b="1" dirty="0"/>
            </a:p>
          </p:txBody>
        </p:sp>
        <p:grpSp>
          <p:nvGrpSpPr>
            <p:cNvPr id="109" name="Google Shape;109;p16"/>
            <p:cNvGrpSpPr/>
            <p:nvPr/>
          </p:nvGrpSpPr>
          <p:grpSpPr>
            <a:xfrm>
              <a:off x="6727545" y="2232851"/>
              <a:ext cx="1047577" cy="135843"/>
              <a:chOff x="7004200" y="2219150"/>
              <a:chExt cx="1388500" cy="141600"/>
            </a:xfrm>
          </p:grpSpPr>
          <p:sp>
            <p:nvSpPr>
              <p:cNvPr id="110" name="Google Shape;110;p16"/>
              <p:cNvSpPr/>
              <p:nvPr/>
            </p:nvSpPr>
            <p:spPr>
              <a:xfrm flipH="1">
                <a:off x="8251100" y="2219150"/>
                <a:ext cx="141600" cy="1416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16"/>
              <p:cNvSpPr/>
              <p:nvPr/>
            </p:nvSpPr>
            <p:spPr>
              <a:xfrm flipH="1">
                <a:off x="7939375" y="2219150"/>
                <a:ext cx="141600" cy="1416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16"/>
              <p:cNvSpPr/>
              <p:nvPr/>
            </p:nvSpPr>
            <p:spPr>
              <a:xfrm flipH="1">
                <a:off x="7627650" y="2219150"/>
                <a:ext cx="141600" cy="1416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16"/>
              <p:cNvSpPr/>
              <p:nvPr/>
            </p:nvSpPr>
            <p:spPr>
              <a:xfrm flipH="1">
                <a:off x="7315925" y="2219150"/>
                <a:ext cx="141600" cy="141600"/>
              </a:xfrm>
              <a:prstGeom prst="ellipse">
                <a:avLst/>
              </a:prstGeom>
              <a:solidFill>
                <a:schemeClr val="l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16"/>
              <p:cNvSpPr/>
              <p:nvPr/>
            </p:nvSpPr>
            <p:spPr>
              <a:xfrm flipH="1">
                <a:off x="7004200" y="2219150"/>
                <a:ext cx="141600" cy="141600"/>
              </a:xfrm>
              <a:prstGeom prst="ellipse">
                <a:avLst/>
              </a:prstGeom>
              <a:solidFill>
                <a:schemeClr val="l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C1A8E6CE-223D-A5B8-760F-D2608FF873F2}"/>
              </a:ext>
            </a:extLst>
          </p:cNvPr>
          <p:cNvGrpSpPr/>
          <p:nvPr/>
        </p:nvGrpSpPr>
        <p:grpSpPr>
          <a:xfrm>
            <a:off x="2015276" y="1506339"/>
            <a:ext cx="1491365" cy="2469762"/>
            <a:chOff x="2264860" y="1506339"/>
            <a:chExt cx="1491365" cy="2469762"/>
          </a:xfrm>
        </p:grpSpPr>
        <p:sp>
          <p:nvSpPr>
            <p:cNvPr id="87" name="Google Shape;87;p16"/>
            <p:cNvSpPr/>
            <p:nvPr/>
          </p:nvSpPr>
          <p:spPr>
            <a:xfrm>
              <a:off x="2264860" y="1506339"/>
              <a:ext cx="1491355" cy="45674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6"/>
            <p:cNvSpPr/>
            <p:nvPr/>
          </p:nvSpPr>
          <p:spPr>
            <a:xfrm>
              <a:off x="2264870" y="2624862"/>
              <a:ext cx="1491355" cy="1351239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0" name="Google Shape;90;p16"/>
            <p:cNvSpPr/>
            <p:nvPr/>
          </p:nvSpPr>
          <p:spPr>
            <a:xfrm>
              <a:off x="2264860" y="2065721"/>
              <a:ext cx="1491355" cy="45674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6"/>
            <p:cNvSpPr txBox="1"/>
            <p:nvPr/>
          </p:nvSpPr>
          <p:spPr>
            <a:xfrm>
              <a:off x="2431671" y="2700601"/>
              <a:ext cx="1239664" cy="12058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b="1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Possiveis</a:t>
              </a:r>
              <a:r>
                <a:rPr lang="en-GB" b="1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causas</a:t>
              </a:r>
              <a:r>
                <a:rPr lang="en-GB" b="1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.</a:t>
              </a:r>
              <a:endParaRPr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15" name="Google Shape;115;p16"/>
            <p:cNvSpPr txBox="1"/>
            <p:nvPr/>
          </p:nvSpPr>
          <p:spPr>
            <a:xfrm>
              <a:off x="2548472" y="1644878"/>
              <a:ext cx="983222" cy="2308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 dirty="0">
                  <a:solidFill>
                    <a:schemeClr val="bg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Analise</a:t>
              </a:r>
            </a:p>
          </p:txBody>
        </p:sp>
        <p:grpSp>
          <p:nvGrpSpPr>
            <p:cNvPr id="119" name="Google Shape;119;p16"/>
            <p:cNvGrpSpPr/>
            <p:nvPr/>
          </p:nvGrpSpPr>
          <p:grpSpPr>
            <a:xfrm>
              <a:off x="2516295" y="2232851"/>
              <a:ext cx="1047577" cy="135843"/>
              <a:chOff x="2792950" y="2219150"/>
              <a:chExt cx="1388500" cy="141600"/>
            </a:xfrm>
          </p:grpSpPr>
          <p:sp>
            <p:nvSpPr>
              <p:cNvPr id="120" name="Google Shape;120;p16"/>
              <p:cNvSpPr/>
              <p:nvPr/>
            </p:nvSpPr>
            <p:spPr>
              <a:xfrm>
                <a:off x="2792950" y="2219150"/>
                <a:ext cx="141600" cy="1416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16"/>
              <p:cNvSpPr/>
              <p:nvPr/>
            </p:nvSpPr>
            <p:spPr>
              <a:xfrm>
                <a:off x="3104675" y="2219150"/>
                <a:ext cx="141600" cy="1416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16"/>
              <p:cNvSpPr/>
              <p:nvPr/>
            </p:nvSpPr>
            <p:spPr>
              <a:xfrm>
                <a:off x="3416400" y="2219150"/>
                <a:ext cx="141600" cy="1416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3" name="Google Shape;123;p16"/>
              <p:cNvSpPr/>
              <p:nvPr/>
            </p:nvSpPr>
            <p:spPr>
              <a:xfrm>
                <a:off x="3728125" y="2219150"/>
                <a:ext cx="141600" cy="141600"/>
              </a:xfrm>
              <a:prstGeom prst="ellipse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" name="Google Shape;124;p16"/>
              <p:cNvSpPr/>
              <p:nvPr/>
            </p:nvSpPr>
            <p:spPr>
              <a:xfrm>
                <a:off x="4039850" y="2219150"/>
                <a:ext cx="141600" cy="141600"/>
              </a:xfrm>
              <a:prstGeom prst="ellipse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7" name="Agrupar 46">
            <a:extLst>
              <a:ext uri="{FF2B5EF4-FFF2-40B4-BE49-F238E27FC236}">
                <a16:creationId xmlns:a16="http://schemas.microsoft.com/office/drawing/2014/main" id="{8775B1D2-FFDC-70E0-51B6-27449C4A0738}"/>
              </a:ext>
            </a:extLst>
          </p:cNvPr>
          <p:cNvGrpSpPr/>
          <p:nvPr/>
        </p:nvGrpSpPr>
        <p:grpSpPr>
          <a:xfrm>
            <a:off x="5597828" y="1506339"/>
            <a:ext cx="1491365" cy="2469762"/>
            <a:chOff x="4349119" y="1506339"/>
            <a:chExt cx="1491365" cy="2469762"/>
          </a:xfrm>
        </p:grpSpPr>
        <p:sp>
          <p:nvSpPr>
            <p:cNvPr id="91" name="Google Shape;91;p16"/>
            <p:cNvSpPr/>
            <p:nvPr/>
          </p:nvSpPr>
          <p:spPr>
            <a:xfrm flipH="1">
              <a:off x="4349129" y="1506339"/>
              <a:ext cx="1491355" cy="456745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6"/>
            <p:cNvSpPr/>
            <p:nvPr/>
          </p:nvSpPr>
          <p:spPr>
            <a:xfrm flipH="1">
              <a:off x="4349119" y="2624862"/>
              <a:ext cx="1491355" cy="1351239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4" name="Google Shape;94;p16"/>
            <p:cNvSpPr/>
            <p:nvPr/>
          </p:nvSpPr>
          <p:spPr>
            <a:xfrm flipH="1">
              <a:off x="4349129" y="2065721"/>
              <a:ext cx="1491355" cy="45674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6"/>
            <p:cNvSpPr txBox="1"/>
            <p:nvPr/>
          </p:nvSpPr>
          <p:spPr>
            <a:xfrm flipH="1">
              <a:off x="4515920" y="2700601"/>
              <a:ext cx="1239664" cy="12058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b="1" dirty="0">
                  <a:solidFill>
                    <a:schemeClr val="bg1"/>
                  </a:solidFill>
                </a:rPr>
                <a:t>Sugestões estratégicas para resolução.</a:t>
              </a:r>
              <a:endParaRPr b="1" dirty="0">
                <a:solidFill>
                  <a:schemeClr val="bg1"/>
                </a:solidFill>
              </a:endParaRPr>
            </a:p>
          </p:txBody>
        </p:sp>
        <p:sp>
          <p:nvSpPr>
            <p:cNvPr id="117" name="Google Shape;117;p16"/>
            <p:cNvSpPr txBox="1"/>
            <p:nvPr/>
          </p:nvSpPr>
          <p:spPr>
            <a:xfrm>
              <a:off x="4622019" y="1622739"/>
              <a:ext cx="983222" cy="2308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 dirty="0" err="1">
                  <a:solidFill>
                    <a:schemeClr val="bg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Sugestão</a:t>
              </a:r>
              <a:endParaRPr sz="1800" dirty="0">
                <a:solidFill>
                  <a:schemeClr val="bg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grpSp>
          <p:nvGrpSpPr>
            <p:cNvPr id="125" name="Google Shape;125;p16"/>
            <p:cNvGrpSpPr/>
            <p:nvPr/>
          </p:nvGrpSpPr>
          <p:grpSpPr>
            <a:xfrm>
              <a:off x="4643258" y="2232851"/>
              <a:ext cx="1047577" cy="135843"/>
              <a:chOff x="4919913" y="2219150"/>
              <a:chExt cx="1388500" cy="141600"/>
            </a:xfrm>
          </p:grpSpPr>
          <p:sp>
            <p:nvSpPr>
              <p:cNvPr id="126" name="Google Shape;126;p16"/>
              <p:cNvSpPr/>
              <p:nvPr/>
            </p:nvSpPr>
            <p:spPr>
              <a:xfrm>
                <a:off x="4919913" y="2219150"/>
                <a:ext cx="141600" cy="1416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16"/>
              <p:cNvSpPr/>
              <p:nvPr/>
            </p:nvSpPr>
            <p:spPr>
              <a:xfrm>
                <a:off x="5231638" y="2219150"/>
                <a:ext cx="141600" cy="1416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16"/>
              <p:cNvSpPr/>
              <p:nvPr/>
            </p:nvSpPr>
            <p:spPr>
              <a:xfrm>
                <a:off x="5543363" y="2219150"/>
                <a:ext cx="141600" cy="1416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16"/>
              <p:cNvSpPr/>
              <p:nvPr/>
            </p:nvSpPr>
            <p:spPr>
              <a:xfrm>
                <a:off x="5855088" y="2219150"/>
                <a:ext cx="141600" cy="141600"/>
              </a:xfrm>
              <a:prstGeom prst="ellipse">
                <a:avLst/>
              </a:prstGeom>
              <a:solidFill>
                <a:schemeClr val="l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" name="Google Shape;130;p16"/>
              <p:cNvSpPr/>
              <p:nvPr/>
            </p:nvSpPr>
            <p:spPr>
              <a:xfrm>
                <a:off x="6166813" y="2219150"/>
                <a:ext cx="141600" cy="141600"/>
              </a:xfrm>
              <a:prstGeom prst="ellipse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67E5DD12-ED17-BB02-3D68-99C4E3CE0AF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240" b="29908"/>
          <a:stretch/>
        </p:blipFill>
        <p:spPr>
          <a:xfrm>
            <a:off x="0" y="-1"/>
            <a:ext cx="1087484" cy="563881"/>
          </a:xfrm>
          <a:prstGeom prst="rect">
            <a:avLst/>
          </a:prstGeom>
        </p:spPr>
      </p:pic>
      <p:grpSp>
        <p:nvGrpSpPr>
          <p:cNvPr id="45" name="Agrupar 44">
            <a:extLst>
              <a:ext uri="{FF2B5EF4-FFF2-40B4-BE49-F238E27FC236}">
                <a16:creationId xmlns:a16="http://schemas.microsoft.com/office/drawing/2014/main" id="{494A0E10-024E-8EB7-C1E9-3C5B85CC1503}"/>
              </a:ext>
            </a:extLst>
          </p:cNvPr>
          <p:cNvGrpSpPr/>
          <p:nvPr/>
        </p:nvGrpSpPr>
        <p:grpSpPr>
          <a:xfrm>
            <a:off x="224008" y="1506339"/>
            <a:ext cx="1491356" cy="2469762"/>
            <a:chOff x="180544" y="1506339"/>
            <a:chExt cx="1491356" cy="2469762"/>
          </a:xfrm>
        </p:grpSpPr>
        <p:sp>
          <p:nvSpPr>
            <p:cNvPr id="79" name="Google Shape;79;p16"/>
            <p:cNvSpPr/>
            <p:nvPr/>
          </p:nvSpPr>
          <p:spPr>
            <a:xfrm>
              <a:off x="180545" y="2624862"/>
              <a:ext cx="1491355" cy="1351239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0" name="Google Shape;80;p16"/>
            <p:cNvSpPr/>
            <p:nvPr/>
          </p:nvSpPr>
          <p:spPr>
            <a:xfrm flipH="1">
              <a:off x="180544" y="1506339"/>
              <a:ext cx="1491355" cy="456745"/>
            </a:xfrm>
            <a:prstGeom prst="round1Rect">
              <a:avLst>
                <a:gd name="adj" fmla="val 30455"/>
              </a:avLst>
            </a:prstGeom>
            <a:solidFill>
              <a:schemeClr val="accent1">
                <a:lumMod val="9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6"/>
            <p:cNvSpPr txBox="1"/>
            <p:nvPr/>
          </p:nvSpPr>
          <p:spPr>
            <a:xfrm>
              <a:off x="453406" y="1619301"/>
              <a:ext cx="983222" cy="2308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 dirty="0" err="1">
                  <a:solidFill>
                    <a:schemeClr val="bg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Contexto</a:t>
              </a:r>
              <a:endParaRPr sz="1800" dirty="0">
                <a:solidFill>
                  <a:schemeClr val="bg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97" name="Google Shape;97;p16"/>
            <p:cNvSpPr txBox="1"/>
            <p:nvPr/>
          </p:nvSpPr>
          <p:spPr>
            <a:xfrm>
              <a:off x="347346" y="2700601"/>
              <a:ext cx="1239664" cy="12058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b="1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Redução</a:t>
              </a:r>
              <a:r>
                <a:rPr lang="en-GB" b="1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 de </a:t>
              </a:r>
              <a:r>
                <a:rPr lang="en-GB" b="1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receita</a:t>
              </a:r>
              <a:r>
                <a:rPr lang="en-GB" b="1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gradativa</a:t>
              </a:r>
              <a:r>
                <a:rPr lang="en-GB" b="1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 no </a:t>
              </a:r>
              <a:r>
                <a:rPr lang="en-GB" b="1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ano</a:t>
              </a:r>
              <a:r>
                <a:rPr lang="en-GB" b="1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 de 2024</a:t>
              </a:r>
              <a:r>
                <a:rPr lang="en-GB" sz="1200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.</a:t>
              </a:r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7" name="Google Shape;82;p16"/>
            <p:cNvSpPr/>
            <p:nvPr/>
          </p:nvSpPr>
          <p:spPr>
            <a:xfrm>
              <a:off x="180545" y="2065721"/>
              <a:ext cx="1491355" cy="45674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grpSp>
          <p:nvGrpSpPr>
            <p:cNvPr id="8" name="Google Shape;99;p16"/>
            <p:cNvGrpSpPr/>
            <p:nvPr/>
          </p:nvGrpSpPr>
          <p:grpSpPr>
            <a:xfrm>
              <a:off x="474645" y="2232851"/>
              <a:ext cx="1047577" cy="135843"/>
              <a:chOff x="751300" y="2219150"/>
              <a:chExt cx="1388500" cy="141600"/>
            </a:xfrm>
          </p:grpSpPr>
          <p:sp>
            <p:nvSpPr>
              <p:cNvPr id="9" name="Google Shape;100;p16"/>
              <p:cNvSpPr/>
              <p:nvPr/>
            </p:nvSpPr>
            <p:spPr>
              <a:xfrm>
                <a:off x="751300" y="2219150"/>
                <a:ext cx="141600" cy="1416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101;p16"/>
              <p:cNvSpPr/>
              <p:nvPr/>
            </p:nvSpPr>
            <p:spPr>
              <a:xfrm>
                <a:off x="1063025" y="2219150"/>
                <a:ext cx="141600" cy="1416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" name="Google Shape;102;p16"/>
              <p:cNvSpPr/>
              <p:nvPr/>
            </p:nvSpPr>
            <p:spPr>
              <a:xfrm>
                <a:off x="1374750" y="2219150"/>
                <a:ext cx="141600" cy="141600"/>
              </a:xfrm>
              <a:prstGeom prst="ellipse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103;p16"/>
              <p:cNvSpPr/>
              <p:nvPr/>
            </p:nvSpPr>
            <p:spPr>
              <a:xfrm>
                <a:off x="1686475" y="2219150"/>
                <a:ext cx="141600" cy="141600"/>
              </a:xfrm>
              <a:prstGeom prst="ellipse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04;p16"/>
              <p:cNvSpPr/>
              <p:nvPr/>
            </p:nvSpPr>
            <p:spPr>
              <a:xfrm>
                <a:off x="1998200" y="2219150"/>
                <a:ext cx="141600" cy="141600"/>
              </a:xfrm>
              <a:prstGeom prst="ellipse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Google Shape;82;p16">
            <a:extLst>
              <a:ext uri="{FF2B5EF4-FFF2-40B4-BE49-F238E27FC236}">
                <a16:creationId xmlns:a16="http://schemas.microsoft.com/office/drawing/2014/main" id="{F4AE52E3-C54B-095F-A984-F97CB06340E7}"/>
              </a:ext>
            </a:extLst>
          </p:cNvPr>
          <p:cNvSpPr/>
          <p:nvPr/>
        </p:nvSpPr>
        <p:spPr>
          <a:xfrm>
            <a:off x="0" y="4918560"/>
            <a:ext cx="1213474" cy="2249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grpSp>
        <p:nvGrpSpPr>
          <p:cNvPr id="23" name="Google Shape;99;p16">
            <a:extLst>
              <a:ext uri="{FF2B5EF4-FFF2-40B4-BE49-F238E27FC236}">
                <a16:creationId xmlns:a16="http://schemas.microsoft.com/office/drawing/2014/main" id="{749E6154-FE71-0111-C755-D77953FB0237}"/>
              </a:ext>
            </a:extLst>
          </p:cNvPr>
          <p:cNvGrpSpPr/>
          <p:nvPr/>
        </p:nvGrpSpPr>
        <p:grpSpPr>
          <a:xfrm>
            <a:off x="180545" y="4997460"/>
            <a:ext cx="852384" cy="66900"/>
            <a:chOff x="751300" y="2219150"/>
            <a:chExt cx="1388500" cy="141600"/>
          </a:xfrm>
        </p:grpSpPr>
        <p:sp>
          <p:nvSpPr>
            <p:cNvPr id="24" name="Google Shape;100;p16">
              <a:extLst>
                <a:ext uri="{FF2B5EF4-FFF2-40B4-BE49-F238E27FC236}">
                  <a16:creationId xmlns:a16="http://schemas.microsoft.com/office/drawing/2014/main" id="{EC6E5B50-7EB5-0263-56CD-456719BAE096}"/>
                </a:ext>
              </a:extLst>
            </p:cNvPr>
            <p:cNvSpPr/>
            <p:nvPr/>
          </p:nvSpPr>
          <p:spPr>
            <a:xfrm>
              <a:off x="751300" y="2219150"/>
              <a:ext cx="141600" cy="1416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02;p16">
              <a:extLst>
                <a:ext uri="{FF2B5EF4-FFF2-40B4-BE49-F238E27FC236}">
                  <a16:creationId xmlns:a16="http://schemas.microsoft.com/office/drawing/2014/main" id="{FF01617B-1BF3-CA73-D35D-465829F14A96}"/>
                </a:ext>
              </a:extLst>
            </p:cNvPr>
            <p:cNvSpPr/>
            <p:nvPr/>
          </p:nvSpPr>
          <p:spPr>
            <a:xfrm>
              <a:off x="1374750" y="2219150"/>
              <a:ext cx="141600" cy="141600"/>
            </a:xfrm>
            <a:prstGeom prst="ellipse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03;p16">
              <a:extLst>
                <a:ext uri="{FF2B5EF4-FFF2-40B4-BE49-F238E27FC236}">
                  <a16:creationId xmlns:a16="http://schemas.microsoft.com/office/drawing/2014/main" id="{CB6DB486-30E2-6385-70EE-0B5D34E09512}"/>
                </a:ext>
              </a:extLst>
            </p:cNvPr>
            <p:cNvSpPr/>
            <p:nvPr/>
          </p:nvSpPr>
          <p:spPr>
            <a:xfrm>
              <a:off x="1686475" y="2219150"/>
              <a:ext cx="141600" cy="141600"/>
            </a:xfrm>
            <a:prstGeom prst="ellipse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04;p16">
              <a:extLst>
                <a:ext uri="{FF2B5EF4-FFF2-40B4-BE49-F238E27FC236}">
                  <a16:creationId xmlns:a16="http://schemas.microsoft.com/office/drawing/2014/main" id="{A41E54AB-D001-158E-43D0-861F8626818B}"/>
                </a:ext>
              </a:extLst>
            </p:cNvPr>
            <p:cNvSpPr/>
            <p:nvPr/>
          </p:nvSpPr>
          <p:spPr>
            <a:xfrm>
              <a:off x="1998200" y="2219150"/>
              <a:ext cx="141600" cy="141600"/>
            </a:xfrm>
            <a:prstGeom prst="ellipse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102;p16">
            <a:extLst>
              <a:ext uri="{FF2B5EF4-FFF2-40B4-BE49-F238E27FC236}">
                <a16:creationId xmlns:a16="http://schemas.microsoft.com/office/drawing/2014/main" id="{E458D190-D21C-0B83-260F-5875C5716666}"/>
              </a:ext>
            </a:extLst>
          </p:cNvPr>
          <p:cNvSpPr/>
          <p:nvPr/>
        </p:nvSpPr>
        <p:spPr>
          <a:xfrm>
            <a:off x="371908" y="4997460"/>
            <a:ext cx="86927" cy="669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CF96C84F-E87E-53C1-FF40-691B0E9A71EA}"/>
              </a:ext>
            </a:extLst>
          </p:cNvPr>
          <p:cNvGrpSpPr/>
          <p:nvPr/>
        </p:nvGrpSpPr>
        <p:grpSpPr>
          <a:xfrm>
            <a:off x="3806552" y="1506339"/>
            <a:ext cx="1491365" cy="2469762"/>
            <a:chOff x="8398322" y="1491004"/>
            <a:chExt cx="1491365" cy="2469762"/>
          </a:xfrm>
        </p:grpSpPr>
        <p:sp>
          <p:nvSpPr>
            <p:cNvPr id="33" name="Google Shape;87;p16">
              <a:extLst>
                <a:ext uri="{FF2B5EF4-FFF2-40B4-BE49-F238E27FC236}">
                  <a16:creationId xmlns:a16="http://schemas.microsoft.com/office/drawing/2014/main" id="{EB2B3746-BF1B-7D38-A921-9F35BCA9AC4A}"/>
                </a:ext>
              </a:extLst>
            </p:cNvPr>
            <p:cNvSpPr/>
            <p:nvPr/>
          </p:nvSpPr>
          <p:spPr>
            <a:xfrm>
              <a:off x="8398322" y="1491004"/>
              <a:ext cx="1491355" cy="45674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88;p16">
              <a:extLst>
                <a:ext uri="{FF2B5EF4-FFF2-40B4-BE49-F238E27FC236}">
                  <a16:creationId xmlns:a16="http://schemas.microsoft.com/office/drawing/2014/main" id="{5740D3F0-1820-3403-00DC-EBE72FB4DE23}"/>
                </a:ext>
              </a:extLst>
            </p:cNvPr>
            <p:cNvSpPr/>
            <p:nvPr/>
          </p:nvSpPr>
          <p:spPr>
            <a:xfrm>
              <a:off x="8398332" y="2609527"/>
              <a:ext cx="1491355" cy="1351239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5" name="Google Shape;90;p16">
              <a:extLst>
                <a:ext uri="{FF2B5EF4-FFF2-40B4-BE49-F238E27FC236}">
                  <a16:creationId xmlns:a16="http://schemas.microsoft.com/office/drawing/2014/main" id="{76285CBA-3991-A301-4116-1AA2C2D43BC2}"/>
                </a:ext>
              </a:extLst>
            </p:cNvPr>
            <p:cNvSpPr/>
            <p:nvPr/>
          </p:nvSpPr>
          <p:spPr>
            <a:xfrm>
              <a:off x="8398322" y="2050386"/>
              <a:ext cx="1491355" cy="45674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98;p16">
              <a:extLst>
                <a:ext uri="{FF2B5EF4-FFF2-40B4-BE49-F238E27FC236}">
                  <a16:creationId xmlns:a16="http://schemas.microsoft.com/office/drawing/2014/main" id="{B35E5C8D-1EA7-78DB-6692-030C1CECDBED}"/>
                </a:ext>
              </a:extLst>
            </p:cNvPr>
            <p:cNvSpPr txBox="1"/>
            <p:nvPr/>
          </p:nvSpPr>
          <p:spPr>
            <a:xfrm>
              <a:off x="8565133" y="2685266"/>
              <a:ext cx="1239664" cy="12058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b="1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Identificação</a:t>
              </a:r>
              <a:r>
                <a:rPr lang="en-GB" b="1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 das </a:t>
              </a:r>
              <a:r>
                <a:rPr lang="en-GB" b="1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Causas</a:t>
              </a:r>
              <a:endParaRPr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37" name="Google Shape;115;p16">
              <a:extLst>
                <a:ext uri="{FF2B5EF4-FFF2-40B4-BE49-F238E27FC236}">
                  <a16:creationId xmlns:a16="http://schemas.microsoft.com/office/drawing/2014/main" id="{80A24385-DE55-2F8D-8BA6-294453B4FFC0}"/>
                </a:ext>
              </a:extLst>
            </p:cNvPr>
            <p:cNvSpPr txBox="1"/>
            <p:nvPr/>
          </p:nvSpPr>
          <p:spPr>
            <a:xfrm>
              <a:off x="8672159" y="1617155"/>
              <a:ext cx="983222" cy="2308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 dirty="0">
                  <a:solidFill>
                    <a:schemeClr val="bg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Analise</a:t>
              </a:r>
            </a:p>
          </p:txBody>
        </p:sp>
        <p:grpSp>
          <p:nvGrpSpPr>
            <p:cNvPr id="38" name="Google Shape;119;p16">
              <a:extLst>
                <a:ext uri="{FF2B5EF4-FFF2-40B4-BE49-F238E27FC236}">
                  <a16:creationId xmlns:a16="http://schemas.microsoft.com/office/drawing/2014/main" id="{4C364316-5019-6CB9-2CD3-437E03E7E66C}"/>
                </a:ext>
              </a:extLst>
            </p:cNvPr>
            <p:cNvGrpSpPr/>
            <p:nvPr/>
          </p:nvGrpSpPr>
          <p:grpSpPr>
            <a:xfrm>
              <a:off x="8649757" y="2217516"/>
              <a:ext cx="1047577" cy="135843"/>
              <a:chOff x="2792950" y="2219150"/>
              <a:chExt cx="1388500" cy="141600"/>
            </a:xfrm>
          </p:grpSpPr>
          <p:sp>
            <p:nvSpPr>
              <p:cNvPr id="39" name="Google Shape;120;p16">
                <a:extLst>
                  <a:ext uri="{FF2B5EF4-FFF2-40B4-BE49-F238E27FC236}">
                    <a16:creationId xmlns:a16="http://schemas.microsoft.com/office/drawing/2014/main" id="{692B388A-8E43-34D5-CCDC-19AE440F1E9E}"/>
                  </a:ext>
                </a:extLst>
              </p:cNvPr>
              <p:cNvSpPr/>
              <p:nvPr/>
            </p:nvSpPr>
            <p:spPr>
              <a:xfrm>
                <a:off x="2792950" y="2219150"/>
                <a:ext cx="141600" cy="1416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121;p16">
                <a:extLst>
                  <a:ext uri="{FF2B5EF4-FFF2-40B4-BE49-F238E27FC236}">
                    <a16:creationId xmlns:a16="http://schemas.microsoft.com/office/drawing/2014/main" id="{822417EA-BA9B-9269-CB7A-C17ED6CF80DE}"/>
                  </a:ext>
                </a:extLst>
              </p:cNvPr>
              <p:cNvSpPr/>
              <p:nvPr/>
            </p:nvSpPr>
            <p:spPr>
              <a:xfrm>
                <a:off x="3104675" y="2219150"/>
                <a:ext cx="141600" cy="1416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122;p16">
                <a:extLst>
                  <a:ext uri="{FF2B5EF4-FFF2-40B4-BE49-F238E27FC236}">
                    <a16:creationId xmlns:a16="http://schemas.microsoft.com/office/drawing/2014/main" id="{F6F24BD5-15F6-F208-E51B-47884F9A72F8}"/>
                  </a:ext>
                </a:extLst>
              </p:cNvPr>
              <p:cNvSpPr/>
              <p:nvPr/>
            </p:nvSpPr>
            <p:spPr>
              <a:xfrm>
                <a:off x="3416400" y="2219150"/>
                <a:ext cx="141600" cy="1416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2" name="Google Shape;123;p16">
                <a:extLst>
                  <a:ext uri="{FF2B5EF4-FFF2-40B4-BE49-F238E27FC236}">
                    <a16:creationId xmlns:a16="http://schemas.microsoft.com/office/drawing/2014/main" id="{730C6FF9-E25D-2A5A-A89F-1EED8AC83C70}"/>
                  </a:ext>
                </a:extLst>
              </p:cNvPr>
              <p:cNvSpPr/>
              <p:nvPr/>
            </p:nvSpPr>
            <p:spPr>
              <a:xfrm>
                <a:off x="3728125" y="2219150"/>
                <a:ext cx="141600" cy="141600"/>
              </a:xfrm>
              <a:prstGeom prst="ellipse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3" name="Google Shape;124;p16">
                <a:extLst>
                  <a:ext uri="{FF2B5EF4-FFF2-40B4-BE49-F238E27FC236}">
                    <a16:creationId xmlns:a16="http://schemas.microsoft.com/office/drawing/2014/main" id="{6B45259D-40CF-DF17-318F-49537440B547}"/>
                  </a:ext>
                </a:extLst>
              </p:cNvPr>
              <p:cNvSpPr/>
              <p:nvPr/>
            </p:nvSpPr>
            <p:spPr>
              <a:xfrm>
                <a:off x="4039850" y="2219150"/>
                <a:ext cx="141600" cy="141600"/>
              </a:xfrm>
              <a:prstGeom prst="ellipse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9ECF789-ABB6-1866-81DB-3D74373115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5199"/>
          <a:stretch/>
        </p:blipFill>
        <p:spPr>
          <a:xfrm>
            <a:off x="612108" y="1594075"/>
            <a:ext cx="5674193" cy="2776720"/>
          </a:xfrm>
          <a:prstGeom prst="rect">
            <a:avLst/>
          </a:prstGeom>
        </p:spPr>
      </p:pic>
      <p:grpSp>
        <p:nvGrpSpPr>
          <p:cNvPr id="1168" name="Google Shape;1168;p41"/>
          <p:cNvGrpSpPr/>
          <p:nvPr/>
        </p:nvGrpSpPr>
        <p:grpSpPr>
          <a:xfrm>
            <a:off x="1213474" y="3655478"/>
            <a:ext cx="2570240" cy="1381618"/>
            <a:chOff x="895540" y="1182527"/>
            <a:chExt cx="4581661" cy="2732369"/>
          </a:xfrm>
        </p:grpSpPr>
        <p:cxnSp>
          <p:nvCxnSpPr>
            <p:cNvPr id="1169" name="Google Shape;1169;p41"/>
            <p:cNvCxnSpPr>
              <a:cxnSpLocks/>
              <a:stCxn id="1170" idx="3"/>
            </p:cNvCxnSpPr>
            <p:nvPr/>
          </p:nvCxnSpPr>
          <p:spPr>
            <a:xfrm flipV="1">
              <a:off x="4125375" y="1316444"/>
              <a:ext cx="1254361" cy="1990652"/>
            </a:xfrm>
            <a:prstGeom prst="straightConnector1">
              <a:avLst/>
            </a:prstGeom>
            <a:noFill/>
            <a:ln w="19050" cap="flat" cmpd="sng">
              <a:solidFill>
                <a:srgbClr val="F3F3F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71" name="Google Shape;1171;p41"/>
            <p:cNvSpPr/>
            <p:nvPr/>
          </p:nvSpPr>
          <p:spPr>
            <a:xfrm>
              <a:off x="3942773" y="3123522"/>
              <a:ext cx="361101" cy="361076"/>
            </a:xfrm>
            <a:custGeom>
              <a:avLst/>
              <a:gdLst/>
              <a:ahLst/>
              <a:cxnLst/>
              <a:rect l="l" t="t" r="r" b="b"/>
              <a:pathLst>
                <a:path w="1647" h="1647" extrusionOk="0">
                  <a:moveTo>
                    <a:pt x="823" y="1"/>
                  </a:moveTo>
                  <a:cubicBezTo>
                    <a:pt x="367" y="1"/>
                    <a:pt x="1" y="367"/>
                    <a:pt x="1" y="823"/>
                  </a:cubicBezTo>
                  <a:cubicBezTo>
                    <a:pt x="1" y="1279"/>
                    <a:pt x="367" y="1646"/>
                    <a:pt x="823" y="1646"/>
                  </a:cubicBezTo>
                  <a:cubicBezTo>
                    <a:pt x="1279" y="1646"/>
                    <a:pt x="1646" y="1279"/>
                    <a:pt x="1646" y="823"/>
                  </a:cubicBezTo>
                  <a:cubicBezTo>
                    <a:pt x="1646" y="367"/>
                    <a:pt x="1279" y="1"/>
                    <a:pt x="8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41"/>
            <p:cNvSpPr/>
            <p:nvPr/>
          </p:nvSpPr>
          <p:spPr>
            <a:xfrm>
              <a:off x="1399875" y="2699296"/>
              <a:ext cx="2725500" cy="12156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41"/>
            <p:cNvSpPr/>
            <p:nvPr/>
          </p:nvSpPr>
          <p:spPr>
            <a:xfrm>
              <a:off x="999324" y="2722541"/>
              <a:ext cx="801101" cy="1093346"/>
            </a:xfrm>
            <a:custGeom>
              <a:avLst/>
              <a:gdLst/>
              <a:ahLst/>
              <a:cxnLst/>
              <a:rect l="l" t="t" r="r" b="b"/>
              <a:pathLst>
                <a:path w="11411" h="14950" extrusionOk="0">
                  <a:moveTo>
                    <a:pt x="2102" y="0"/>
                  </a:moveTo>
                  <a:cubicBezTo>
                    <a:pt x="952" y="0"/>
                    <a:pt x="11" y="932"/>
                    <a:pt x="11" y="2091"/>
                  </a:cubicBezTo>
                  <a:lnTo>
                    <a:pt x="0" y="12848"/>
                  </a:lnTo>
                  <a:cubicBezTo>
                    <a:pt x="0" y="14007"/>
                    <a:pt x="932" y="14939"/>
                    <a:pt x="2092" y="14939"/>
                  </a:cubicBezTo>
                  <a:lnTo>
                    <a:pt x="8476" y="14949"/>
                  </a:lnTo>
                  <a:cubicBezTo>
                    <a:pt x="8605" y="14800"/>
                    <a:pt x="8744" y="14652"/>
                    <a:pt x="8873" y="14493"/>
                  </a:cubicBezTo>
                  <a:cubicBezTo>
                    <a:pt x="9319" y="13958"/>
                    <a:pt x="9715" y="13373"/>
                    <a:pt x="10052" y="12758"/>
                  </a:cubicBezTo>
                  <a:cubicBezTo>
                    <a:pt x="10915" y="11192"/>
                    <a:pt x="11411" y="9387"/>
                    <a:pt x="11411" y="7475"/>
                  </a:cubicBezTo>
                  <a:cubicBezTo>
                    <a:pt x="11411" y="7197"/>
                    <a:pt x="11400" y="6920"/>
                    <a:pt x="11381" y="6642"/>
                  </a:cubicBezTo>
                  <a:cubicBezTo>
                    <a:pt x="11193" y="4094"/>
                    <a:pt x="10131" y="1785"/>
                    <a:pt x="8496" y="10"/>
                  </a:cubicBezTo>
                  <a:lnTo>
                    <a:pt x="210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3" name="Google Shape;1173;p41"/>
            <p:cNvSpPr/>
            <p:nvPr/>
          </p:nvSpPr>
          <p:spPr>
            <a:xfrm>
              <a:off x="1122061" y="3263476"/>
              <a:ext cx="465189" cy="9757"/>
            </a:xfrm>
            <a:custGeom>
              <a:avLst/>
              <a:gdLst/>
              <a:ahLst/>
              <a:cxnLst/>
              <a:rect l="l" t="t" r="r" b="b"/>
              <a:pathLst>
                <a:path w="5721" h="120" extrusionOk="0">
                  <a:moveTo>
                    <a:pt x="60" y="1"/>
                  </a:moveTo>
                  <a:cubicBezTo>
                    <a:pt x="31" y="1"/>
                    <a:pt x="1" y="21"/>
                    <a:pt x="1" y="51"/>
                  </a:cubicBezTo>
                  <a:cubicBezTo>
                    <a:pt x="1" y="90"/>
                    <a:pt x="31" y="110"/>
                    <a:pt x="60" y="110"/>
                  </a:cubicBezTo>
                  <a:lnTo>
                    <a:pt x="5661" y="120"/>
                  </a:lnTo>
                  <a:cubicBezTo>
                    <a:pt x="5691" y="120"/>
                    <a:pt x="5721" y="90"/>
                    <a:pt x="5721" y="60"/>
                  </a:cubicBezTo>
                  <a:cubicBezTo>
                    <a:pt x="5721" y="31"/>
                    <a:pt x="5691" y="1"/>
                    <a:pt x="5661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41"/>
            <p:cNvSpPr txBox="1"/>
            <p:nvPr/>
          </p:nvSpPr>
          <p:spPr>
            <a:xfrm>
              <a:off x="895540" y="2727006"/>
              <a:ext cx="927900" cy="57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100" dirty="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175" name="Google Shape;1175;p41"/>
            <p:cNvSpPr/>
            <p:nvPr/>
          </p:nvSpPr>
          <p:spPr>
            <a:xfrm>
              <a:off x="5343279" y="1182527"/>
              <a:ext cx="133922" cy="133917"/>
            </a:xfrm>
            <a:custGeom>
              <a:avLst/>
              <a:gdLst/>
              <a:ahLst/>
              <a:cxnLst/>
              <a:rect l="l" t="t" r="r" b="b"/>
              <a:pathLst>
                <a:path w="1647" h="1647" extrusionOk="0">
                  <a:moveTo>
                    <a:pt x="823" y="1"/>
                  </a:moveTo>
                  <a:cubicBezTo>
                    <a:pt x="367" y="1"/>
                    <a:pt x="1" y="367"/>
                    <a:pt x="1" y="823"/>
                  </a:cubicBezTo>
                  <a:cubicBezTo>
                    <a:pt x="1" y="1279"/>
                    <a:pt x="367" y="1646"/>
                    <a:pt x="823" y="1646"/>
                  </a:cubicBezTo>
                  <a:cubicBezTo>
                    <a:pt x="1279" y="1646"/>
                    <a:pt x="1646" y="1279"/>
                    <a:pt x="1646" y="823"/>
                  </a:cubicBezTo>
                  <a:cubicBezTo>
                    <a:pt x="1646" y="367"/>
                    <a:pt x="1279" y="1"/>
                    <a:pt x="8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41"/>
            <p:cNvSpPr txBox="1"/>
            <p:nvPr/>
          </p:nvSpPr>
          <p:spPr>
            <a:xfrm>
              <a:off x="1939774" y="3004475"/>
              <a:ext cx="2094301" cy="79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000" dirty="0">
                  <a:latin typeface="Roboto"/>
                  <a:ea typeface="Roboto"/>
                  <a:cs typeface="Roboto"/>
                  <a:sym typeface="Roboto"/>
                </a:rPr>
                <a:t>Queda de clientes ativos</a:t>
              </a:r>
              <a:endParaRPr sz="10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77" name="Google Shape;1177;p41"/>
            <p:cNvSpPr txBox="1"/>
            <p:nvPr/>
          </p:nvSpPr>
          <p:spPr>
            <a:xfrm>
              <a:off x="1919525" y="2879075"/>
              <a:ext cx="1712100" cy="25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 err="1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Clientes</a:t>
              </a:r>
              <a:endParaRPr sz="1800" dirty="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grpSp>
          <p:nvGrpSpPr>
            <p:cNvPr id="1178" name="Google Shape;1178;p41"/>
            <p:cNvGrpSpPr/>
            <p:nvPr/>
          </p:nvGrpSpPr>
          <p:grpSpPr>
            <a:xfrm>
              <a:off x="1145710" y="3374056"/>
              <a:ext cx="417883" cy="418875"/>
              <a:chOff x="-61784125" y="3377700"/>
              <a:chExt cx="316650" cy="317450"/>
            </a:xfrm>
          </p:grpSpPr>
          <p:sp>
            <p:nvSpPr>
              <p:cNvPr id="1179" name="Google Shape;1179;p41"/>
              <p:cNvSpPr/>
              <p:nvPr/>
            </p:nvSpPr>
            <p:spPr>
              <a:xfrm>
                <a:off x="-61688025" y="3460400"/>
                <a:ext cx="124450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4978" h="2049" extrusionOk="0">
                    <a:moveTo>
                      <a:pt x="630" y="1"/>
                    </a:moveTo>
                    <a:cubicBezTo>
                      <a:pt x="252" y="442"/>
                      <a:pt x="0" y="1041"/>
                      <a:pt x="0" y="1671"/>
                    </a:cubicBezTo>
                    <a:cubicBezTo>
                      <a:pt x="0" y="1891"/>
                      <a:pt x="189" y="2049"/>
                      <a:pt x="441" y="2049"/>
                    </a:cubicBezTo>
                    <a:lnTo>
                      <a:pt x="4568" y="2049"/>
                    </a:lnTo>
                    <a:cubicBezTo>
                      <a:pt x="4820" y="2049"/>
                      <a:pt x="4978" y="1860"/>
                      <a:pt x="4978" y="1671"/>
                    </a:cubicBezTo>
                    <a:cubicBezTo>
                      <a:pt x="4978" y="1041"/>
                      <a:pt x="4726" y="442"/>
                      <a:pt x="4348" y="1"/>
                    </a:cubicBezTo>
                    <a:cubicBezTo>
                      <a:pt x="3875" y="568"/>
                      <a:pt x="3182" y="852"/>
                      <a:pt x="2489" y="852"/>
                    </a:cubicBezTo>
                    <a:cubicBezTo>
                      <a:pt x="1827" y="852"/>
                      <a:pt x="1134" y="568"/>
                      <a:pt x="63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41"/>
              <p:cNvSpPr/>
              <p:nvPr/>
            </p:nvSpPr>
            <p:spPr>
              <a:xfrm>
                <a:off x="-61677800" y="3518900"/>
                <a:ext cx="104775" cy="61850"/>
              </a:xfrm>
              <a:custGeom>
                <a:avLst/>
                <a:gdLst/>
                <a:ahLst/>
                <a:cxnLst/>
                <a:rect l="l" t="t" r="r" b="b"/>
                <a:pathLst>
                  <a:path w="4191" h="2474" extrusionOk="0">
                    <a:moveTo>
                      <a:pt x="2096" y="0"/>
                    </a:moveTo>
                    <a:cubicBezTo>
                      <a:pt x="1985" y="0"/>
                      <a:pt x="1875" y="40"/>
                      <a:pt x="1796" y="118"/>
                    </a:cubicBezTo>
                    <a:lnTo>
                      <a:pt x="158" y="1757"/>
                    </a:lnTo>
                    <a:cubicBezTo>
                      <a:pt x="1" y="1914"/>
                      <a:pt x="1" y="2198"/>
                      <a:pt x="158" y="2355"/>
                    </a:cubicBezTo>
                    <a:cubicBezTo>
                      <a:pt x="237" y="2434"/>
                      <a:pt x="339" y="2473"/>
                      <a:pt x="442" y="2473"/>
                    </a:cubicBezTo>
                    <a:cubicBezTo>
                      <a:pt x="544" y="2473"/>
                      <a:pt x="646" y="2434"/>
                      <a:pt x="725" y="2355"/>
                    </a:cubicBezTo>
                    <a:lnTo>
                      <a:pt x="2111" y="969"/>
                    </a:lnTo>
                    <a:lnTo>
                      <a:pt x="3498" y="2355"/>
                    </a:lnTo>
                    <a:cubicBezTo>
                      <a:pt x="3576" y="2434"/>
                      <a:pt x="3687" y="2473"/>
                      <a:pt x="3797" y="2473"/>
                    </a:cubicBezTo>
                    <a:cubicBezTo>
                      <a:pt x="3907" y="2473"/>
                      <a:pt x="4017" y="2434"/>
                      <a:pt x="4096" y="2355"/>
                    </a:cubicBezTo>
                    <a:cubicBezTo>
                      <a:pt x="4191" y="2198"/>
                      <a:pt x="4191" y="1914"/>
                      <a:pt x="4033" y="1757"/>
                    </a:cubicBezTo>
                    <a:lnTo>
                      <a:pt x="2395" y="118"/>
                    </a:lnTo>
                    <a:cubicBezTo>
                      <a:pt x="2316" y="40"/>
                      <a:pt x="2206" y="0"/>
                      <a:pt x="209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41"/>
              <p:cNvSpPr/>
              <p:nvPr/>
            </p:nvSpPr>
            <p:spPr>
              <a:xfrm>
                <a:off x="-61667550" y="3377700"/>
                <a:ext cx="82699" cy="82725"/>
              </a:xfrm>
              <a:custGeom>
                <a:avLst/>
                <a:gdLst/>
                <a:ahLst/>
                <a:cxnLst/>
                <a:rect l="l" t="t" r="r" b="b"/>
                <a:pathLst>
                  <a:path w="3308" h="3309" extrusionOk="0">
                    <a:moveTo>
                      <a:pt x="1670" y="1"/>
                    </a:moveTo>
                    <a:cubicBezTo>
                      <a:pt x="756" y="1"/>
                      <a:pt x="0" y="757"/>
                      <a:pt x="0" y="1671"/>
                    </a:cubicBezTo>
                    <a:cubicBezTo>
                      <a:pt x="0" y="2584"/>
                      <a:pt x="756" y="3309"/>
                      <a:pt x="1670" y="3309"/>
                    </a:cubicBezTo>
                    <a:cubicBezTo>
                      <a:pt x="2584" y="3309"/>
                      <a:pt x="3308" y="2584"/>
                      <a:pt x="3308" y="1671"/>
                    </a:cubicBezTo>
                    <a:cubicBezTo>
                      <a:pt x="3308" y="757"/>
                      <a:pt x="2584" y="1"/>
                      <a:pt x="16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41"/>
              <p:cNvSpPr/>
              <p:nvPr/>
            </p:nvSpPr>
            <p:spPr>
              <a:xfrm>
                <a:off x="-61591150" y="3643150"/>
                <a:ext cx="123675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4947" h="2048" extrusionOk="0">
                    <a:moveTo>
                      <a:pt x="630" y="0"/>
                    </a:moveTo>
                    <a:cubicBezTo>
                      <a:pt x="221" y="410"/>
                      <a:pt x="0" y="1008"/>
                      <a:pt x="0" y="1638"/>
                    </a:cubicBezTo>
                    <a:cubicBezTo>
                      <a:pt x="0" y="1890"/>
                      <a:pt x="189" y="2048"/>
                      <a:pt x="378" y="2048"/>
                    </a:cubicBezTo>
                    <a:lnTo>
                      <a:pt x="4505" y="2048"/>
                    </a:lnTo>
                    <a:cubicBezTo>
                      <a:pt x="4757" y="2048"/>
                      <a:pt x="4946" y="1827"/>
                      <a:pt x="4946" y="1638"/>
                    </a:cubicBezTo>
                    <a:cubicBezTo>
                      <a:pt x="4946" y="1008"/>
                      <a:pt x="4726" y="410"/>
                      <a:pt x="4316" y="0"/>
                    </a:cubicBezTo>
                    <a:cubicBezTo>
                      <a:pt x="3844" y="536"/>
                      <a:pt x="3182" y="819"/>
                      <a:pt x="2458" y="819"/>
                    </a:cubicBezTo>
                    <a:cubicBezTo>
                      <a:pt x="1796" y="819"/>
                      <a:pt x="1134" y="536"/>
                      <a:pt x="6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41"/>
              <p:cNvSpPr/>
              <p:nvPr/>
            </p:nvSpPr>
            <p:spPr>
              <a:xfrm>
                <a:off x="-61570675" y="3560450"/>
                <a:ext cx="82725" cy="82725"/>
              </a:xfrm>
              <a:custGeom>
                <a:avLst/>
                <a:gdLst/>
                <a:ahLst/>
                <a:cxnLst/>
                <a:rect l="l" t="t" r="r" b="b"/>
                <a:pathLst>
                  <a:path w="3309" h="3309" extrusionOk="0">
                    <a:moveTo>
                      <a:pt x="1670" y="0"/>
                    </a:moveTo>
                    <a:cubicBezTo>
                      <a:pt x="756" y="0"/>
                      <a:pt x="0" y="725"/>
                      <a:pt x="0" y="1638"/>
                    </a:cubicBezTo>
                    <a:cubicBezTo>
                      <a:pt x="0" y="2552"/>
                      <a:pt x="756" y="3308"/>
                      <a:pt x="1670" y="3308"/>
                    </a:cubicBezTo>
                    <a:cubicBezTo>
                      <a:pt x="2552" y="3308"/>
                      <a:pt x="3308" y="2552"/>
                      <a:pt x="3308" y="1638"/>
                    </a:cubicBezTo>
                    <a:cubicBezTo>
                      <a:pt x="3308" y="725"/>
                      <a:pt x="2552" y="0"/>
                      <a:pt x="167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41"/>
              <p:cNvSpPr/>
              <p:nvPr/>
            </p:nvSpPr>
            <p:spPr>
              <a:xfrm>
                <a:off x="-61784125" y="3643925"/>
                <a:ext cx="124450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4978" h="2049" extrusionOk="0">
                    <a:moveTo>
                      <a:pt x="662" y="1"/>
                    </a:moveTo>
                    <a:cubicBezTo>
                      <a:pt x="252" y="442"/>
                      <a:pt x="32" y="1009"/>
                      <a:pt x="32" y="1639"/>
                    </a:cubicBezTo>
                    <a:cubicBezTo>
                      <a:pt x="0" y="1859"/>
                      <a:pt x="189" y="2048"/>
                      <a:pt x="410" y="2048"/>
                    </a:cubicBezTo>
                    <a:lnTo>
                      <a:pt x="4569" y="2048"/>
                    </a:lnTo>
                    <a:cubicBezTo>
                      <a:pt x="4789" y="2048"/>
                      <a:pt x="4978" y="1859"/>
                      <a:pt x="4978" y="1639"/>
                    </a:cubicBezTo>
                    <a:cubicBezTo>
                      <a:pt x="4978" y="1009"/>
                      <a:pt x="4758" y="442"/>
                      <a:pt x="4348" y="1"/>
                    </a:cubicBezTo>
                    <a:cubicBezTo>
                      <a:pt x="3876" y="536"/>
                      <a:pt x="3214" y="820"/>
                      <a:pt x="2521" y="820"/>
                    </a:cubicBezTo>
                    <a:cubicBezTo>
                      <a:pt x="1828" y="820"/>
                      <a:pt x="1166" y="536"/>
                      <a:pt x="66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41"/>
              <p:cNvSpPr/>
              <p:nvPr/>
            </p:nvSpPr>
            <p:spPr>
              <a:xfrm>
                <a:off x="-61763650" y="3560450"/>
                <a:ext cx="82725" cy="82725"/>
              </a:xfrm>
              <a:custGeom>
                <a:avLst/>
                <a:gdLst/>
                <a:ahLst/>
                <a:cxnLst/>
                <a:rect l="l" t="t" r="r" b="b"/>
                <a:pathLst>
                  <a:path w="3309" h="3309" extrusionOk="0">
                    <a:moveTo>
                      <a:pt x="1670" y="0"/>
                    </a:moveTo>
                    <a:cubicBezTo>
                      <a:pt x="757" y="0"/>
                      <a:pt x="1" y="725"/>
                      <a:pt x="1" y="1638"/>
                    </a:cubicBezTo>
                    <a:cubicBezTo>
                      <a:pt x="1" y="2552"/>
                      <a:pt x="757" y="3308"/>
                      <a:pt x="1670" y="3308"/>
                    </a:cubicBezTo>
                    <a:cubicBezTo>
                      <a:pt x="2552" y="3308"/>
                      <a:pt x="3309" y="2552"/>
                      <a:pt x="3309" y="1638"/>
                    </a:cubicBezTo>
                    <a:cubicBezTo>
                      <a:pt x="3309" y="725"/>
                      <a:pt x="2552" y="0"/>
                      <a:pt x="167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86" name="Google Shape;1186;p41"/>
          <p:cNvGrpSpPr/>
          <p:nvPr/>
        </p:nvGrpSpPr>
        <p:grpSpPr>
          <a:xfrm>
            <a:off x="3529565" y="1798092"/>
            <a:ext cx="4663898" cy="553907"/>
            <a:chOff x="-255114" y="3504562"/>
            <a:chExt cx="8501635" cy="1216471"/>
          </a:xfrm>
        </p:grpSpPr>
        <p:cxnSp>
          <p:nvCxnSpPr>
            <p:cNvPr id="1187" name="Google Shape;1187;p41"/>
            <p:cNvCxnSpPr>
              <a:cxnSpLocks/>
              <a:stCxn id="1188" idx="3"/>
            </p:cNvCxnSpPr>
            <p:nvPr/>
          </p:nvCxnSpPr>
          <p:spPr>
            <a:xfrm flipH="1">
              <a:off x="-121192" y="4113233"/>
              <a:ext cx="5154592" cy="419931"/>
            </a:xfrm>
            <a:prstGeom prst="straightConnector1">
              <a:avLst/>
            </a:prstGeom>
            <a:noFill/>
            <a:ln w="19050" cap="flat" cmpd="sng">
              <a:solidFill>
                <a:srgbClr val="F3F3F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89" name="Google Shape;1189;p41"/>
            <p:cNvSpPr/>
            <p:nvPr/>
          </p:nvSpPr>
          <p:spPr>
            <a:xfrm rot="10800000">
              <a:off x="4854902" y="3935731"/>
              <a:ext cx="361101" cy="361076"/>
            </a:xfrm>
            <a:custGeom>
              <a:avLst/>
              <a:gdLst/>
              <a:ahLst/>
              <a:cxnLst/>
              <a:rect l="l" t="t" r="r" b="b"/>
              <a:pathLst>
                <a:path w="1647" h="1647" extrusionOk="0">
                  <a:moveTo>
                    <a:pt x="823" y="1"/>
                  </a:moveTo>
                  <a:cubicBezTo>
                    <a:pt x="367" y="1"/>
                    <a:pt x="1" y="367"/>
                    <a:pt x="1" y="823"/>
                  </a:cubicBezTo>
                  <a:cubicBezTo>
                    <a:pt x="1" y="1279"/>
                    <a:pt x="367" y="1646"/>
                    <a:pt x="823" y="1646"/>
                  </a:cubicBezTo>
                  <a:cubicBezTo>
                    <a:pt x="1279" y="1646"/>
                    <a:pt x="1646" y="1279"/>
                    <a:pt x="1646" y="823"/>
                  </a:cubicBezTo>
                  <a:cubicBezTo>
                    <a:pt x="1646" y="367"/>
                    <a:pt x="1279" y="1"/>
                    <a:pt x="8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41"/>
            <p:cNvSpPr/>
            <p:nvPr/>
          </p:nvSpPr>
          <p:spPr>
            <a:xfrm rot="10800000">
              <a:off x="5033400" y="3505433"/>
              <a:ext cx="2725500" cy="12156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41"/>
            <p:cNvSpPr/>
            <p:nvPr/>
          </p:nvSpPr>
          <p:spPr>
            <a:xfrm>
              <a:off x="7276226" y="3504562"/>
              <a:ext cx="927857" cy="1214690"/>
            </a:xfrm>
            <a:custGeom>
              <a:avLst/>
              <a:gdLst/>
              <a:ahLst/>
              <a:cxnLst/>
              <a:rect l="l" t="t" r="r" b="b"/>
              <a:pathLst>
                <a:path w="11411" h="14939" extrusionOk="0">
                  <a:moveTo>
                    <a:pt x="2925" y="0"/>
                  </a:moveTo>
                  <a:cubicBezTo>
                    <a:pt x="1289" y="1774"/>
                    <a:pt x="229" y="4084"/>
                    <a:pt x="40" y="6642"/>
                  </a:cubicBezTo>
                  <a:cubicBezTo>
                    <a:pt x="20" y="6909"/>
                    <a:pt x="0" y="7187"/>
                    <a:pt x="0" y="7464"/>
                  </a:cubicBezTo>
                  <a:cubicBezTo>
                    <a:pt x="0" y="9388"/>
                    <a:pt x="496" y="11182"/>
                    <a:pt x="1359" y="12758"/>
                  </a:cubicBezTo>
                  <a:cubicBezTo>
                    <a:pt x="1696" y="13373"/>
                    <a:pt x="2092" y="13948"/>
                    <a:pt x="2538" y="14483"/>
                  </a:cubicBezTo>
                  <a:cubicBezTo>
                    <a:pt x="2667" y="14642"/>
                    <a:pt x="2806" y="14791"/>
                    <a:pt x="2934" y="14939"/>
                  </a:cubicBezTo>
                  <a:lnTo>
                    <a:pt x="9318" y="14939"/>
                  </a:lnTo>
                  <a:cubicBezTo>
                    <a:pt x="10479" y="14939"/>
                    <a:pt x="11411" y="14007"/>
                    <a:pt x="11411" y="12848"/>
                  </a:cubicBezTo>
                  <a:lnTo>
                    <a:pt x="11411" y="2092"/>
                  </a:lnTo>
                  <a:cubicBezTo>
                    <a:pt x="11411" y="942"/>
                    <a:pt x="10479" y="0"/>
                    <a:pt x="93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41"/>
            <p:cNvSpPr/>
            <p:nvPr/>
          </p:nvSpPr>
          <p:spPr>
            <a:xfrm>
              <a:off x="7557560" y="4069508"/>
              <a:ext cx="465107" cy="9025"/>
            </a:xfrm>
            <a:custGeom>
              <a:avLst/>
              <a:gdLst/>
              <a:ahLst/>
              <a:cxnLst/>
              <a:rect l="l" t="t" r="r" b="b"/>
              <a:pathLst>
                <a:path w="5720" h="111" extrusionOk="0">
                  <a:moveTo>
                    <a:pt x="60" y="1"/>
                  </a:moveTo>
                  <a:cubicBezTo>
                    <a:pt x="30" y="1"/>
                    <a:pt x="0" y="21"/>
                    <a:pt x="0" y="51"/>
                  </a:cubicBezTo>
                  <a:cubicBezTo>
                    <a:pt x="0" y="91"/>
                    <a:pt x="30" y="110"/>
                    <a:pt x="60" y="110"/>
                  </a:cubicBezTo>
                  <a:lnTo>
                    <a:pt x="5660" y="110"/>
                  </a:lnTo>
                  <a:cubicBezTo>
                    <a:pt x="5700" y="110"/>
                    <a:pt x="5720" y="91"/>
                    <a:pt x="5720" y="51"/>
                  </a:cubicBezTo>
                  <a:cubicBezTo>
                    <a:pt x="5720" y="21"/>
                    <a:pt x="5700" y="1"/>
                    <a:pt x="5660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41"/>
            <p:cNvSpPr/>
            <p:nvPr/>
          </p:nvSpPr>
          <p:spPr>
            <a:xfrm>
              <a:off x="-255114" y="4466205"/>
              <a:ext cx="133922" cy="133918"/>
            </a:xfrm>
            <a:custGeom>
              <a:avLst/>
              <a:gdLst/>
              <a:ahLst/>
              <a:cxnLst/>
              <a:rect l="l" t="t" r="r" b="b"/>
              <a:pathLst>
                <a:path w="1647" h="1647" extrusionOk="0">
                  <a:moveTo>
                    <a:pt x="823" y="1"/>
                  </a:moveTo>
                  <a:cubicBezTo>
                    <a:pt x="367" y="1"/>
                    <a:pt x="1" y="367"/>
                    <a:pt x="1" y="823"/>
                  </a:cubicBezTo>
                  <a:cubicBezTo>
                    <a:pt x="1" y="1270"/>
                    <a:pt x="367" y="1646"/>
                    <a:pt x="823" y="1646"/>
                  </a:cubicBezTo>
                  <a:cubicBezTo>
                    <a:pt x="1279" y="1646"/>
                    <a:pt x="1646" y="1270"/>
                    <a:pt x="1646" y="823"/>
                  </a:cubicBezTo>
                  <a:cubicBezTo>
                    <a:pt x="1646" y="367"/>
                    <a:pt x="1279" y="1"/>
                    <a:pt x="82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41"/>
            <p:cNvSpPr txBox="1"/>
            <p:nvPr/>
          </p:nvSpPr>
          <p:spPr>
            <a:xfrm>
              <a:off x="7318621" y="3520518"/>
              <a:ext cx="927900" cy="57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1100" dirty="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194" name="Google Shape;1194;p41"/>
            <p:cNvSpPr txBox="1"/>
            <p:nvPr/>
          </p:nvSpPr>
          <p:spPr>
            <a:xfrm>
              <a:off x="4966278" y="3822707"/>
              <a:ext cx="2094301" cy="79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900" dirty="0">
                  <a:latin typeface="Roboto"/>
                  <a:ea typeface="Roboto"/>
                  <a:cs typeface="Roboto"/>
                  <a:sym typeface="Roboto"/>
                </a:rPr>
                <a:t>Redução gradual do faturamento</a:t>
              </a:r>
              <a:endParaRPr sz="9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95" name="Google Shape;1195;p41"/>
            <p:cNvSpPr txBox="1"/>
            <p:nvPr/>
          </p:nvSpPr>
          <p:spPr>
            <a:xfrm>
              <a:off x="5510975" y="3687600"/>
              <a:ext cx="1712100" cy="25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dirty="0" err="1">
                  <a:solidFill>
                    <a:schemeClr val="accent5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Faturamento</a:t>
              </a:r>
              <a:endParaRPr sz="1800" dirty="0">
                <a:solidFill>
                  <a:schemeClr val="accent5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grpSp>
          <p:nvGrpSpPr>
            <p:cNvPr id="1196" name="Google Shape;1196;p41"/>
            <p:cNvGrpSpPr/>
            <p:nvPr/>
          </p:nvGrpSpPr>
          <p:grpSpPr>
            <a:xfrm>
              <a:off x="7566446" y="4181718"/>
              <a:ext cx="432268" cy="400976"/>
              <a:chOff x="-62511900" y="4129100"/>
              <a:chExt cx="304050" cy="282000"/>
            </a:xfrm>
          </p:grpSpPr>
          <p:sp>
            <p:nvSpPr>
              <p:cNvPr id="1197" name="Google Shape;1197;p41"/>
              <p:cNvSpPr/>
              <p:nvPr/>
            </p:nvSpPr>
            <p:spPr>
              <a:xfrm>
                <a:off x="-62414225" y="4203925"/>
                <a:ext cx="206375" cy="207175"/>
              </a:xfrm>
              <a:custGeom>
                <a:avLst/>
                <a:gdLst/>
                <a:ahLst/>
                <a:cxnLst/>
                <a:rect l="l" t="t" r="r" b="b"/>
                <a:pathLst>
                  <a:path w="8255" h="8287" extrusionOk="0">
                    <a:moveTo>
                      <a:pt x="4128" y="1229"/>
                    </a:moveTo>
                    <a:cubicBezTo>
                      <a:pt x="4348" y="1229"/>
                      <a:pt x="4506" y="1418"/>
                      <a:pt x="4506" y="1670"/>
                    </a:cubicBezTo>
                    <a:lnTo>
                      <a:pt x="4506" y="1922"/>
                    </a:lnTo>
                    <a:cubicBezTo>
                      <a:pt x="4978" y="2080"/>
                      <a:pt x="5356" y="2552"/>
                      <a:pt x="5356" y="3119"/>
                    </a:cubicBezTo>
                    <a:cubicBezTo>
                      <a:pt x="5356" y="3340"/>
                      <a:pt x="5136" y="3498"/>
                      <a:pt x="4947" y="3498"/>
                    </a:cubicBezTo>
                    <a:cubicBezTo>
                      <a:pt x="4726" y="3498"/>
                      <a:pt x="4506" y="3308"/>
                      <a:pt x="4506" y="3119"/>
                    </a:cubicBezTo>
                    <a:cubicBezTo>
                      <a:pt x="4506" y="2867"/>
                      <a:pt x="4317" y="2710"/>
                      <a:pt x="4128" y="2710"/>
                    </a:cubicBezTo>
                    <a:cubicBezTo>
                      <a:pt x="3939" y="2710"/>
                      <a:pt x="3687" y="2930"/>
                      <a:pt x="3687" y="3119"/>
                    </a:cubicBezTo>
                    <a:cubicBezTo>
                      <a:pt x="3718" y="3340"/>
                      <a:pt x="4033" y="3592"/>
                      <a:pt x="4411" y="3813"/>
                    </a:cubicBezTo>
                    <a:cubicBezTo>
                      <a:pt x="4821" y="4128"/>
                      <a:pt x="5388" y="4537"/>
                      <a:pt x="5388" y="5199"/>
                    </a:cubicBezTo>
                    <a:cubicBezTo>
                      <a:pt x="5388" y="5766"/>
                      <a:pt x="5041" y="6175"/>
                      <a:pt x="4569" y="6396"/>
                    </a:cubicBezTo>
                    <a:lnTo>
                      <a:pt x="4569" y="6648"/>
                    </a:lnTo>
                    <a:cubicBezTo>
                      <a:pt x="4569" y="6900"/>
                      <a:pt x="4348" y="7089"/>
                      <a:pt x="4159" y="7089"/>
                    </a:cubicBezTo>
                    <a:cubicBezTo>
                      <a:pt x="3970" y="7089"/>
                      <a:pt x="3718" y="6900"/>
                      <a:pt x="3718" y="6648"/>
                    </a:cubicBezTo>
                    <a:lnTo>
                      <a:pt x="3718" y="6396"/>
                    </a:lnTo>
                    <a:cubicBezTo>
                      <a:pt x="3245" y="6238"/>
                      <a:pt x="2899" y="5766"/>
                      <a:pt x="2899" y="5199"/>
                    </a:cubicBezTo>
                    <a:cubicBezTo>
                      <a:pt x="2899" y="4978"/>
                      <a:pt x="3088" y="4821"/>
                      <a:pt x="3308" y="4821"/>
                    </a:cubicBezTo>
                    <a:cubicBezTo>
                      <a:pt x="3498" y="4821"/>
                      <a:pt x="3687" y="5010"/>
                      <a:pt x="3687" y="5199"/>
                    </a:cubicBezTo>
                    <a:cubicBezTo>
                      <a:pt x="3687" y="5451"/>
                      <a:pt x="3876" y="5608"/>
                      <a:pt x="4128" y="5608"/>
                    </a:cubicBezTo>
                    <a:cubicBezTo>
                      <a:pt x="4348" y="5608"/>
                      <a:pt x="4506" y="5388"/>
                      <a:pt x="4506" y="5199"/>
                    </a:cubicBezTo>
                    <a:cubicBezTo>
                      <a:pt x="4506" y="4978"/>
                      <a:pt x="4191" y="4726"/>
                      <a:pt x="3844" y="4506"/>
                    </a:cubicBezTo>
                    <a:cubicBezTo>
                      <a:pt x="3403" y="4191"/>
                      <a:pt x="2867" y="3781"/>
                      <a:pt x="2867" y="3119"/>
                    </a:cubicBezTo>
                    <a:cubicBezTo>
                      <a:pt x="2867" y="2552"/>
                      <a:pt x="3214" y="2143"/>
                      <a:pt x="3687" y="1922"/>
                    </a:cubicBezTo>
                    <a:lnTo>
                      <a:pt x="3687" y="1670"/>
                    </a:lnTo>
                    <a:cubicBezTo>
                      <a:pt x="3687" y="1418"/>
                      <a:pt x="3876" y="1229"/>
                      <a:pt x="4128" y="1229"/>
                    </a:cubicBezTo>
                    <a:close/>
                    <a:moveTo>
                      <a:pt x="4128" y="0"/>
                    </a:moveTo>
                    <a:cubicBezTo>
                      <a:pt x="1828" y="0"/>
                      <a:pt x="0" y="1859"/>
                      <a:pt x="0" y="4128"/>
                    </a:cubicBezTo>
                    <a:cubicBezTo>
                      <a:pt x="0" y="6427"/>
                      <a:pt x="1828" y="8286"/>
                      <a:pt x="4128" y="8286"/>
                    </a:cubicBezTo>
                    <a:cubicBezTo>
                      <a:pt x="6396" y="8286"/>
                      <a:pt x="8255" y="6427"/>
                      <a:pt x="8255" y="4128"/>
                    </a:cubicBezTo>
                    <a:cubicBezTo>
                      <a:pt x="8255" y="1859"/>
                      <a:pt x="6396" y="0"/>
                      <a:pt x="41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98" name="Google Shape;1198;p41"/>
              <p:cNvSpPr/>
              <p:nvPr/>
            </p:nvSpPr>
            <p:spPr>
              <a:xfrm>
                <a:off x="-62511100" y="4129100"/>
                <a:ext cx="159900" cy="74850"/>
              </a:xfrm>
              <a:custGeom>
                <a:avLst/>
                <a:gdLst/>
                <a:ahLst/>
                <a:cxnLst/>
                <a:rect l="l" t="t" r="r" b="b"/>
                <a:pathLst>
                  <a:path w="6396" h="2994" extrusionOk="0">
                    <a:moveTo>
                      <a:pt x="3214" y="1"/>
                    </a:moveTo>
                    <a:cubicBezTo>
                      <a:pt x="1450" y="1"/>
                      <a:pt x="0" y="662"/>
                      <a:pt x="0" y="1513"/>
                    </a:cubicBezTo>
                    <a:cubicBezTo>
                      <a:pt x="0" y="2332"/>
                      <a:pt x="1450" y="2993"/>
                      <a:pt x="3214" y="2993"/>
                    </a:cubicBezTo>
                    <a:cubicBezTo>
                      <a:pt x="4947" y="2993"/>
                      <a:pt x="6396" y="2332"/>
                      <a:pt x="6396" y="1513"/>
                    </a:cubicBezTo>
                    <a:cubicBezTo>
                      <a:pt x="6396" y="662"/>
                      <a:pt x="4947" y="1"/>
                      <a:pt x="32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99" name="Google Shape;1199;p41"/>
              <p:cNvSpPr/>
              <p:nvPr/>
            </p:nvSpPr>
            <p:spPr>
              <a:xfrm>
                <a:off x="-62511100" y="4207075"/>
                <a:ext cx="110275" cy="59875"/>
              </a:xfrm>
              <a:custGeom>
                <a:avLst/>
                <a:gdLst/>
                <a:ahLst/>
                <a:cxnLst/>
                <a:rect l="l" t="t" r="r" b="b"/>
                <a:pathLst>
                  <a:path w="4411" h="2395" extrusionOk="0">
                    <a:moveTo>
                      <a:pt x="0" y="0"/>
                    </a:moveTo>
                    <a:lnTo>
                      <a:pt x="0" y="1135"/>
                    </a:lnTo>
                    <a:cubicBezTo>
                      <a:pt x="0" y="1450"/>
                      <a:pt x="347" y="1765"/>
                      <a:pt x="882" y="2017"/>
                    </a:cubicBezTo>
                    <a:cubicBezTo>
                      <a:pt x="1355" y="2237"/>
                      <a:pt x="2332" y="2395"/>
                      <a:pt x="3151" y="2395"/>
                    </a:cubicBezTo>
                    <a:lnTo>
                      <a:pt x="3308" y="2395"/>
                    </a:lnTo>
                    <a:cubicBezTo>
                      <a:pt x="3560" y="1733"/>
                      <a:pt x="3907" y="1135"/>
                      <a:pt x="4411" y="631"/>
                    </a:cubicBezTo>
                    <a:lnTo>
                      <a:pt x="4411" y="631"/>
                    </a:lnTo>
                    <a:cubicBezTo>
                      <a:pt x="4033" y="694"/>
                      <a:pt x="3623" y="757"/>
                      <a:pt x="3182" y="757"/>
                    </a:cubicBezTo>
                    <a:cubicBezTo>
                      <a:pt x="2363" y="757"/>
                      <a:pt x="1261" y="599"/>
                      <a:pt x="567" y="316"/>
                    </a:cubicBezTo>
                    <a:cubicBezTo>
                      <a:pt x="347" y="221"/>
                      <a:pt x="158" y="127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41"/>
              <p:cNvSpPr/>
              <p:nvPr/>
            </p:nvSpPr>
            <p:spPr>
              <a:xfrm>
                <a:off x="-62511100" y="4329950"/>
                <a:ext cx="106350" cy="59875"/>
              </a:xfrm>
              <a:custGeom>
                <a:avLst/>
                <a:gdLst/>
                <a:ahLst/>
                <a:cxnLst/>
                <a:rect l="l" t="t" r="r" b="b"/>
                <a:pathLst>
                  <a:path w="4254" h="2395" extrusionOk="0">
                    <a:moveTo>
                      <a:pt x="0" y="0"/>
                    </a:moveTo>
                    <a:lnTo>
                      <a:pt x="0" y="1197"/>
                    </a:lnTo>
                    <a:cubicBezTo>
                      <a:pt x="0" y="1701"/>
                      <a:pt x="1355" y="2395"/>
                      <a:pt x="3182" y="2395"/>
                    </a:cubicBezTo>
                    <a:cubicBezTo>
                      <a:pt x="3560" y="2395"/>
                      <a:pt x="3907" y="2363"/>
                      <a:pt x="4254" y="2332"/>
                    </a:cubicBezTo>
                    <a:cubicBezTo>
                      <a:pt x="3875" y="1859"/>
                      <a:pt x="3560" y="1355"/>
                      <a:pt x="3340" y="756"/>
                    </a:cubicBezTo>
                    <a:lnTo>
                      <a:pt x="3182" y="756"/>
                    </a:lnTo>
                    <a:cubicBezTo>
                      <a:pt x="2363" y="756"/>
                      <a:pt x="1261" y="599"/>
                      <a:pt x="567" y="315"/>
                    </a:cubicBezTo>
                    <a:cubicBezTo>
                      <a:pt x="347" y="252"/>
                      <a:pt x="158" y="126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41"/>
              <p:cNvSpPr/>
              <p:nvPr/>
            </p:nvSpPr>
            <p:spPr>
              <a:xfrm>
                <a:off x="-62511900" y="4268500"/>
                <a:ext cx="78000" cy="60675"/>
              </a:xfrm>
              <a:custGeom>
                <a:avLst/>
                <a:gdLst/>
                <a:ahLst/>
                <a:cxnLst/>
                <a:rect l="l" t="t" r="r" b="b"/>
                <a:pathLst>
                  <a:path w="3120" h="2427" extrusionOk="0">
                    <a:moveTo>
                      <a:pt x="1" y="1"/>
                    </a:moveTo>
                    <a:lnTo>
                      <a:pt x="1" y="1167"/>
                    </a:lnTo>
                    <a:lnTo>
                      <a:pt x="32" y="1167"/>
                    </a:lnTo>
                    <a:cubicBezTo>
                      <a:pt x="32" y="1482"/>
                      <a:pt x="379" y="1797"/>
                      <a:pt x="914" y="2017"/>
                    </a:cubicBezTo>
                    <a:cubicBezTo>
                      <a:pt x="1387" y="2238"/>
                      <a:pt x="2332" y="2395"/>
                      <a:pt x="3120" y="2427"/>
                    </a:cubicBezTo>
                    <a:cubicBezTo>
                      <a:pt x="3057" y="2143"/>
                      <a:pt x="3025" y="1860"/>
                      <a:pt x="3025" y="1608"/>
                    </a:cubicBezTo>
                    <a:cubicBezTo>
                      <a:pt x="3025" y="1324"/>
                      <a:pt x="3088" y="1041"/>
                      <a:pt x="3120" y="757"/>
                    </a:cubicBezTo>
                    <a:cubicBezTo>
                      <a:pt x="2332" y="757"/>
                      <a:pt x="1230" y="599"/>
                      <a:pt x="536" y="316"/>
                    </a:cubicBezTo>
                    <a:cubicBezTo>
                      <a:pt x="347" y="253"/>
                      <a:pt x="158" y="127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2" name="Imagem 11">
            <a:extLst>
              <a:ext uri="{FF2B5EF4-FFF2-40B4-BE49-F238E27FC236}">
                <a16:creationId xmlns:a16="http://schemas.microsoft.com/office/drawing/2014/main" id="{DEBB4F49-A3A2-2A58-902E-71DD9E3815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51" b="22186" l="2455" r="96265">
                        <a14:foregroundMark x1="7150" y1="14356" x2="7150" y2="14356"/>
                        <a14:foregroundMark x1="5123" y1="15171" x2="5123" y2="15171"/>
                        <a14:foregroundMark x1="2561" y1="12724" x2="2561" y2="12724"/>
                        <a14:foregroundMark x1="59125" y1="14682" x2="59125" y2="14682"/>
                        <a14:foregroundMark x1="83885" y1="14192" x2="83885" y2="14192"/>
                        <a14:foregroundMark x1="96265" y1="14519" x2="96265" y2="14519"/>
                        <a14:foregroundMark x1="94237" y1="13377" x2="94237" y2="13377"/>
                        <a14:foregroundMark x1="78869" y1="19576" x2="78869" y2="19576"/>
                        <a14:foregroundMark x1="87086" y1="20228" x2="87086" y2="20228"/>
                        <a14:foregroundMark x1="46318" y1="13214" x2="46318" y2="13214"/>
                        <a14:foregroundMark x1="40875" y1="16150" x2="40875" y2="16150"/>
                        <a14:foregroundMark x1="34365" y1="15498" x2="34365" y2="15498"/>
                        <a14:foregroundMark x1="30630" y1="14192" x2="30630" y2="14192"/>
                        <a14:foregroundMark x1="32337" y1="12398" x2="32337" y2="12398"/>
                        <a14:foregroundMark x1="28175" y1="19739" x2="28175" y2="19739"/>
                        <a14:foregroundMark x1="21878" y1="19902" x2="23266" y2="12398"/>
                        <a14:foregroundMark x1="4376" y1="11419" x2="2455" y2="12724"/>
                      </a14:backgroundRemoval>
                    </a14:imgEffect>
                  </a14:imgLayer>
                </a14:imgProps>
              </a:ext>
            </a:extLst>
          </a:blip>
          <a:srcRect t="9112" b="76111"/>
          <a:stretch/>
        </p:blipFill>
        <p:spPr>
          <a:xfrm>
            <a:off x="475617" y="713141"/>
            <a:ext cx="7903205" cy="764006"/>
          </a:xfrm>
          <a:prstGeom prst="rect">
            <a:avLst/>
          </a:prstGeom>
        </p:spPr>
      </p:pic>
      <p:sp>
        <p:nvSpPr>
          <p:cNvPr id="15" name="Google Shape;78;p16">
            <a:extLst>
              <a:ext uri="{FF2B5EF4-FFF2-40B4-BE49-F238E27FC236}">
                <a16:creationId xmlns:a16="http://schemas.microsoft.com/office/drawing/2014/main" id="{96E8EB07-F203-F753-30AC-64473E738F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19" y="166391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1"/>
                </a:solidFill>
              </a:rPr>
              <a:t>Analise de Caso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003C830D-6B85-389F-9288-840153DB484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8240" b="29908"/>
          <a:stretch/>
        </p:blipFill>
        <p:spPr>
          <a:xfrm>
            <a:off x="0" y="-1"/>
            <a:ext cx="1087484" cy="563881"/>
          </a:xfrm>
          <a:prstGeom prst="rect">
            <a:avLst/>
          </a:prstGeom>
        </p:spPr>
      </p:pic>
      <p:sp>
        <p:nvSpPr>
          <p:cNvPr id="27" name="Google Shape;82;p16">
            <a:extLst>
              <a:ext uri="{FF2B5EF4-FFF2-40B4-BE49-F238E27FC236}">
                <a16:creationId xmlns:a16="http://schemas.microsoft.com/office/drawing/2014/main" id="{249A3C7F-D45B-10C8-37A1-8479DA4C6119}"/>
              </a:ext>
            </a:extLst>
          </p:cNvPr>
          <p:cNvSpPr/>
          <p:nvPr/>
        </p:nvSpPr>
        <p:spPr>
          <a:xfrm>
            <a:off x="0" y="4919570"/>
            <a:ext cx="1213474" cy="2249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grpSp>
        <p:nvGrpSpPr>
          <p:cNvPr id="28" name="Google Shape;99;p16">
            <a:extLst>
              <a:ext uri="{FF2B5EF4-FFF2-40B4-BE49-F238E27FC236}">
                <a16:creationId xmlns:a16="http://schemas.microsoft.com/office/drawing/2014/main" id="{B000EE92-EB30-B1F9-2C12-4B946C639613}"/>
              </a:ext>
            </a:extLst>
          </p:cNvPr>
          <p:cNvGrpSpPr/>
          <p:nvPr/>
        </p:nvGrpSpPr>
        <p:grpSpPr>
          <a:xfrm>
            <a:off x="180545" y="4998470"/>
            <a:ext cx="852384" cy="66900"/>
            <a:chOff x="751300" y="2219150"/>
            <a:chExt cx="1388500" cy="141600"/>
          </a:xfrm>
        </p:grpSpPr>
        <p:sp>
          <p:nvSpPr>
            <p:cNvPr id="29" name="Google Shape;100;p16">
              <a:extLst>
                <a:ext uri="{FF2B5EF4-FFF2-40B4-BE49-F238E27FC236}">
                  <a16:creationId xmlns:a16="http://schemas.microsoft.com/office/drawing/2014/main" id="{94E74C6A-ADB4-70DF-4EEE-603B3334A719}"/>
                </a:ext>
              </a:extLst>
            </p:cNvPr>
            <p:cNvSpPr/>
            <p:nvPr/>
          </p:nvSpPr>
          <p:spPr>
            <a:xfrm>
              <a:off x="751300" y="2219150"/>
              <a:ext cx="141600" cy="1416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01;p16">
              <a:extLst>
                <a:ext uri="{FF2B5EF4-FFF2-40B4-BE49-F238E27FC236}">
                  <a16:creationId xmlns:a16="http://schemas.microsoft.com/office/drawing/2014/main" id="{059A67CA-906B-A69E-8D1B-8BB168449A18}"/>
                </a:ext>
              </a:extLst>
            </p:cNvPr>
            <p:cNvSpPr/>
            <p:nvPr/>
          </p:nvSpPr>
          <p:spPr>
            <a:xfrm>
              <a:off x="1063025" y="2219150"/>
              <a:ext cx="141600" cy="1416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02;p16">
              <a:extLst>
                <a:ext uri="{FF2B5EF4-FFF2-40B4-BE49-F238E27FC236}">
                  <a16:creationId xmlns:a16="http://schemas.microsoft.com/office/drawing/2014/main" id="{FBE1C458-E796-B1F1-7B0C-BF1F6CCC7BE0}"/>
                </a:ext>
              </a:extLst>
            </p:cNvPr>
            <p:cNvSpPr/>
            <p:nvPr/>
          </p:nvSpPr>
          <p:spPr>
            <a:xfrm>
              <a:off x="1374750" y="2219150"/>
              <a:ext cx="141600" cy="141600"/>
            </a:xfrm>
            <a:prstGeom prst="ellipse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" name="Google Shape;103;p16">
              <a:extLst>
                <a:ext uri="{FF2B5EF4-FFF2-40B4-BE49-F238E27FC236}">
                  <a16:creationId xmlns:a16="http://schemas.microsoft.com/office/drawing/2014/main" id="{A3353B5B-698E-36E7-734A-AF94809834CD}"/>
                </a:ext>
              </a:extLst>
            </p:cNvPr>
            <p:cNvSpPr/>
            <p:nvPr/>
          </p:nvSpPr>
          <p:spPr>
            <a:xfrm>
              <a:off x="1686475" y="2219150"/>
              <a:ext cx="141600" cy="141600"/>
            </a:xfrm>
            <a:prstGeom prst="ellipse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04;p16">
              <a:extLst>
                <a:ext uri="{FF2B5EF4-FFF2-40B4-BE49-F238E27FC236}">
                  <a16:creationId xmlns:a16="http://schemas.microsoft.com/office/drawing/2014/main" id="{9E104346-8DB5-A5C0-9DE9-292482241BE1}"/>
                </a:ext>
              </a:extLst>
            </p:cNvPr>
            <p:cNvSpPr/>
            <p:nvPr/>
          </p:nvSpPr>
          <p:spPr>
            <a:xfrm>
              <a:off x="1998200" y="2219150"/>
              <a:ext cx="141600" cy="141600"/>
            </a:xfrm>
            <a:prstGeom prst="ellipse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4E02C8A6-11B0-659A-FDE0-66A2AC5B2AA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240" b="29908"/>
          <a:stretch/>
        </p:blipFill>
        <p:spPr>
          <a:xfrm>
            <a:off x="0" y="-1"/>
            <a:ext cx="1087484" cy="563881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E4784095-D0B6-9BC1-94F7-3B1CA07597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372" y="1455196"/>
            <a:ext cx="5382376" cy="1495634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D9CC6141-C9BE-89C9-1B12-9BAF00F24D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372" y="3344303"/>
            <a:ext cx="5382376" cy="1476581"/>
          </a:xfrm>
          <a:prstGeom prst="rect">
            <a:avLst/>
          </a:prstGeom>
        </p:spPr>
      </p:pic>
      <p:sp>
        <p:nvSpPr>
          <p:cNvPr id="30" name="Google Shape;1090;p39">
            <a:extLst>
              <a:ext uri="{FF2B5EF4-FFF2-40B4-BE49-F238E27FC236}">
                <a16:creationId xmlns:a16="http://schemas.microsoft.com/office/drawing/2014/main" id="{4B04087C-3403-4AD0-1CEA-43320E1A756A}"/>
              </a:ext>
            </a:extLst>
          </p:cNvPr>
          <p:cNvSpPr/>
          <p:nvPr/>
        </p:nvSpPr>
        <p:spPr>
          <a:xfrm rot="10800000">
            <a:off x="5934839" y="1455196"/>
            <a:ext cx="3209161" cy="1240516"/>
          </a:xfrm>
          <a:prstGeom prst="homePlate">
            <a:avLst>
              <a:gd name="adj" fmla="val 26034"/>
            </a:avLst>
          </a:prstGeom>
          <a:gradFill flip="none" rotWithShape="1">
            <a:gsLst>
              <a:gs pos="11000">
                <a:schemeClr val="accent2">
                  <a:lumMod val="75000"/>
                </a:schemeClr>
              </a:gs>
              <a:gs pos="57000">
                <a:schemeClr val="accent2">
                  <a:lumMod val="50000"/>
                </a:schemeClr>
              </a:gs>
              <a:gs pos="95000">
                <a:schemeClr val="accent2">
                  <a:lumMod val="75000"/>
                </a:schemeClr>
              </a:gs>
              <a:gs pos="10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" name="Google Shape;1090;p39">
            <a:extLst>
              <a:ext uri="{FF2B5EF4-FFF2-40B4-BE49-F238E27FC236}">
                <a16:creationId xmlns:a16="http://schemas.microsoft.com/office/drawing/2014/main" id="{11C560D1-E905-9746-FD8B-8EB6A4882C91}"/>
              </a:ext>
            </a:extLst>
          </p:cNvPr>
          <p:cNvSpPr/>
          <p:nvPr/>
        </p:nvSpPr>
        <p:spPr>
          <a:xfrm rot="10800000">
            <a:off x="5934839" y="3341869"/>
            <a:ext cx="3209161" cy="1240516"/>
          </a:xfrm>
          <a:prstGeom prst="homePlate">
            <a:avLst>
              <a:gd name="adj" fmla="val 26034"/>
            </a:avLst>
          </a:prstGeom>
          <a:gradFill flip="none" rotWithShape="1">
            <a:gsLst>
              <a:gs pos="11000">
                <a:schemeClr val="accent2">
                  <a:lumMod val="75000"/>
                </a:schemeClr>
              </a:gs>
              <a:gs pos="57000">
                <a:schemeClr val="accent2">
                  <a:lumMod val="50000"/>
                </a:schemeClr>
              </a:gs>
              <a:gs pos="95000">
                <a:schemeClr val="accent2">
                  <a:lumMod val="75000"/>
                </a:schemeClr>
              </a:gs>
              <a:gs pos="10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78;p16">
            <a:extLst>
              <a:ext uri="{FF2B5EF4-FFF2-40B4-BE49-F238E27FC236}">
                <a16:creationId xmlns:a16="http://schemas.microsoft.com/office/drawing/2014/main" id="{E4A15481-ECD0-E514-38C1-D10407E4D173}"/>
              </a:ext>
            </a:extLst>
          </p:cNvPr>
          <p:cNvSpPr txBox="1">
            <a:spLocks/>
          </p:cNvSpPr>
          <p:nvPr/>
        </p:nvSpPr>
        <p:spPr>
          <a:xfrm>
            <a:off x="312419" y="166391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</a:rPr>
              <a:t>Analise de Caso</a:t>
            </a:r>
          </a:p>
        </p:txBody>
      </p:sp>
      <p:sp>
        <p:nvSpPr>
          <p:cNvPr id="36" name="Google Shape;82;p16">
            <a:extLst>
              <a:ext uri="{FF2B5EF4-FFF2-40B4-BE49-F238E27FC236}">
                <a16:creationId xmlns:a16="http://schemas.microsoft.com/office/drawing/2014/main" id="{A64070FA-2BDB-19A2-01D8-37D0E277F171}"/>
              </a:ext>
            </a:extLst>
          </p:cNvPr>
          <p:cNvSpPr/>
          <p:nvPr/>
        </p:nvSpPr>
        <p:spPr>
          <a:xfrm>
            <a:off x="0" y="4918560"/>
            <a:ext cx="1213474" cy="2249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grpSp>
        <p:nvGrpSpPr>
          <p:cNvPr id="37" name="Google Shape;99;p16">
            <a:extLst>
              <a:ext uri="{FF2B5EF4-FFF2-40B4-BE49-F238E27FC236}">
                <a16:creationId xmlns:a16="http://schemas.microsoft.com/office/drawing/2014/main" id="{465B46C7-D8FC-DB80-AE5B-2F9CBE83BBAB}"/>
              </a:ext>
            </a:extLst>
          </p:cNvPr>
          <p:cNvGrpSpPr/>
          <p:nvPr/>
        </p:nvGrpSpPr>
        <p:grpSpPr>
          <a:xfrm>
            <a:off x="180545" y="4997460"/>
            <a:ext cx="852384" cy="66900"/>
            <a:chOff x="751300" y="2219150"/>
            <a:chExt cx="1388500" cy="141600"/>
          </a:xfrm>
        </p:grpSpPr>
        <p:sp>
          <p:nvSpPr>
            <p:cNvPr id="38" name="Google Shape;100;p16">
              <a:extLst>
                <a:ext uri="{FF2B5EF4-FFF2-40B4-BE49-F238E27FC236}">
                  <a16:creationId xmlns:a16="http://schemas.microsoft.com/office/drawing/2014/main" id="{73C085D5-0011-60FA-1F4B-BC432091C9A4}"/>
                </a:ext>
              </a:extLst>
            </p:cNvPr>
            <p:cNvSpPr/>
            <p:nvPr/>
          </p:nvSpPr>
          <p:spPr>
            <a:xfrm>
              <a:off x="751300" y="2219150"/>
              <a:ext cx="141600" cy="1416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01;p16">
              <a:extLst>
                <a:ext uri="{FF2B5EF4-FFF2-40B4-BE49-F238E27FC236}">
                  <a16:creationId xmlns:a16="http://schemas.microsoft.com/office/drawing/2014/main" id="{F6DC7970-FE92-A3D5-6F5C-4D36A5A3C761}"/>
                </a:ext>
              </a:extLst>
            </p:cNvPr>
            <p:cNvSpPr/>
            <p:nvPr/>
          </p:nvSpPr>
          <p:spPr>
            <a:xfrm>
              <a:off x="1063025" y="2219150"/>
              <a:ext cx="141600" cy="1416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03;p16">
              <a:extLst>
                <a:ext uri="{FF2B5EF4-FFF2-40B4-BE49-F238E27FC236}">
                  <a16:creationId xmlns:a16="http://schemas.microsoft.com/office/drawing/2014/main" id="{7AD8C52B-EF09-9E10-6259-104721683E35}"/>
                </a:ext>
              </a:extLst>
            </p:cNvPr>
            <p:cNvSpPr/>
            <p:nvPr/>
          </p:nvSpPr>
          <p:spPr>
            <a:xfrm>
              <a:off x="1686475" y="2219150"/>
              <a:ext cx="141600" cy="141600"/>
            </a:xfrm>
            <a:prstGeom prst="ellipse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04;p16">
              <a:extLst>
                <a:ext uri="{FF2B5EF4-FFF2-40B4-BE49-F238E27FC236}">
                  <a16:creationId xmlns:a16="http://schemas.microsoft.com/office/drawing/2014/main" id="{DA9B4228-6EE8-5B3F-9D15-98FB41A78ECF}"/>
                </a:ext>
              </a:extLst>
            </p:cNvPr>
            <p:cNvSpPr/>
            <p:nvPr/>
          </p:nvSpPr>
          <p:spPr>
            <a:xfrm>
              <a:off x="1998200" y="2219150"/>
              <a:ext cx="141600" cy="141600"/>
            </a:xfrm>
            <a:prstGeom prst="ellipse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01;p16">
              <a:extLst>
                <a:ext uri="{FF2B5EF4-FFF2-40B4-BE49-F238E27FC236}">
                  <a16:creationId xmlns:a16="http://schemas.microsoft.com/office/drawing/2014/main" id="{78C49A44-E7AD-93D4-9E2B-1C8D94D15689}"/>
                </a:ext>
              </a:extLst>
            </p:cNvPr>
            <p:cNvSpPr/>
            <p:nvPr/>
          </p:nvSpPr>
          <p:spPr>
            <a:xfrm>
              <a:off x="1374749" y="2219150"/>
              <a:ext cx="141601" cy="1416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977F7ECE-90B4-F140-8642-CC704846FB5F}"/>
              </a:ext>
            </a:extLst>
          </p:cNvPr>
          <p:cNvSpPr txBox="1"/>
          <p:nvPr/>
        </p:nvSpPr>
        <p:spPr>
          <a:xfrm>
            <a:off x="6267450" y="1720829"/>
            <a:ext cx="27114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Queda gradual na receita, porem não proporcional aos clientes ativos.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08B16C7-8070-5C1B-DA4A-B3C63615F557}"/>
              </a:ext>
            </a:extLst>
          </p:cNvPr>
          <p:cNvSpPr txBox="1"/>
          <p:nvPr/>
        </p:nvSpPr>
        <p:spPr>
          <a:xfrm>
            <a:off x="6267450" y="3592795"/>
            <a:ext cx="27114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A receita cai e cresce o numero de clientes sem plataforma de integração.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34">
          <a:extLst>
            <a:ext uri="{FF2B5EF4-FFF2-40B4-BE49-F238E27FC236}">
              <a16:creationId xmlns:a16="http://schemas.microsoft.com/office/drawing/2014/main" id="{9C61B4E3-220D-A075-BDA8-A567CFA15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3E3BEDA-DF32-3B12-D8F2-5F58956041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240" b="29908"/>
          <a:stretch/>
        </p:blipFill>
        <p:spPr>
          <a:xfrm>
            <a:off x="0" y="-1"/>
            <a:ext cx="1087484" cy="563881"/>
          </a:xfrm>
          <a:prstGeom prst="rect">
            <a:avLst/>
          </a:prstGeom>
        </p:spPr>
      </p:pic>
      <p:sp>
        <p:nvSpPr>
          <p:cNvPr id="15" name="Google Shape;78;p16">
            <a:extLst>
              <a:ext uri="{FF2B5EF4-FFF2-40B4-BE49-F238E27FC236}">
                <a16:creationId xmlns:a16="http://schemas.microsoft.com/office/drawing/2014/main" id="{C0120587-7A83-ACD9-4738-A828DD911BF6}"/>
              </a:ext>
            </a:extLst>
          </p:cNvPr>
          <p:cNvSpPr txBox="1">
            <a:spLocks/>
          </p:cNvSpPr>
          <p:nvPr/>
        </p:nvSpPr>
        <p:spPr>
          <a:xfrm>
            <a:off x="312419" y="166391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dirty="0" err="1">
                <a:solidFill>
                  <a:schemeClr val="bg1"/>
                </a:solidFill>
              </a:rPr>
              <a:t>Soluções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6" name="Google Shape;82;p16">
            <a:extLst>
              <a:ext uri="{FF2B5EF4-FFF2-40B4-BE49-F238E27FC236}">
                <a16:creationId xmlns:a16="http://schemas.microsoft.com/office/drawing/2014/main" id="{D10927CB-DB3D-3B8B-26EB-9DF553304C5B}"/>
              </a:ext>
            </a:extLst>
          </p:cNvPr>
          <p:cNvSpPr/>
          <p:nvPr/>
        </p:nvSpPr>
        <p:spPr>
          <a:xfrm>
            <a:off x="0" y="4918560"/>
            <a:ext cx="1213474" cy="2249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grpSp>
        <p:nvGrpSpPr>
          <p:cNvPr id="17" name="Google Shape;99;p16">
            <a:extLst>
              <a:ext uri="{FF2B5EF4-FFF2-40B4-BE49-F238E27FC236}">
                <a16:creationId xmlns:a16="http://schemas.microsoft.com/office/drawing/2014/main" id="{E9F580CD-F83F-D452-C9D0-FC2904335D8F}"/>
              </a:ext>
            </a:extLst>
          </p:cNvPr>
          <p:cNvGrpSpPr/>
          <p:nvPr/>
        </p:nvGrpSpPr>
        <p:grpSpPr>
          <a:xfrm>
            <a:off x="180545" y="4997460"/>
            <a:ext cx="852384" cy="66900"/>
            <a:chOff x="751300" y="2219150"/>
            <a:chExt cx="1388500" cy="141600"/>
          </a:xfrm>
        </p:grpSpPr>
        <p:sp>
          <p:nvSpPr>
            <p:cNvPr id="18" name="Google Shape;100;p16">
              <a:extLst>
                <a:ext uri="{FF2B5EF4-FFF2-40B4-BE49-F238E27FC236}">
                  <a16:creationId xmlns:a16="http://schemas.microsoft.com/office/drawing/2014/main" id="{D1EC504E-451D-300E-A48F-173677EF26B7}"/>
                </a:ext>
              </a:extLst>
            </p:cNvPr>
            <p:cNvSpPr/>
            <p:nvPr/>
          </p:nvSpPr>
          <p:spPr>
            <a:xfrm>
              <a:off x="751300" y="2219150"/>
              <a:ext cx="141600" cy="1416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01;p16">
              <a:extLst>
                <a:ext uri="{FF2B5EF4-FFF2-40B4-BE49-F238E27FC236}">
                  <a16:creationId xmlns:a16="http://schemas.microsoft.com/office/drawing/2014/main" id="{D9B7FA60-C393-19E0-4285-11E92D1CF7F8}"/>
                </a:ext>
              </a:extLst>
            </p:cNvPr>
            <p:cNvSpPr/>
            <p:nvPr/>
          </p:nvSpPr>
          <p:spPr>
            <a:xfrm>
              <a:off x="1063025" y="2219150"/>
              <a:ext cx="141600" cy="1416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02;p16">
              <a:extLst>
                <a:ext uri="{FF2B5EF4-FFF2-40B4-BE49-F238E27FC236}">
                  <a16:creationId xmlns:a16="http://schemas.microsoft.com/office/drawing/2014/main" id="{DE432E3A-A6B7-0FD8-0EC8-44F965648DD7}"/>
                </a:ext>
              </a:extLst>
            </p:cNvPr>
            <p:cNvSpPr/>
            <p:nvPr/>
          </p:nvSpPr>
          <p:spPr>
            <a:xfrm>
              <a:off x="1374750" y="2219150"/>
              <a:ext cx="141600" cy="141600"/>
            </a:xfrm>
            <a:prstGeom prst="ellipse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03;p16">
              <a:extLst>
                <a:ext uri="{FF2B5EF4-FFF2-40B4-BE49-F238E27FC236}">
                  <a16:creationId xmlns:a16="http://schemas.microsoft.com/office/drawing/2014/main" id="{08232478-654D-D522-CA91-79EF26F3FE84}"/>
                </a:ext>
              </a:extLst>
            </p:cNvPr>
            <p:cNvSpPr/>
            <p:nvPr/>
          </p:nvSpPr>
          <p:spPr>
            <a:xfrm>
              <a:off x="1686475" y="2219150"/>
              <a:ext cx="141600" cy="141600"/>
            </a:xfrm>
            <a:prstGeom prst="ellipse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04;p16">
              <a:extLst>
                <a:ext uri="{FF2B5EF4-FFF2-40B4-BE49-F238E27FC236}">
                  <a16:creationId xmlns:a16="http://schemas.microsoft.com/office/drawing/2014/main" id="{59194FE4-F218-18A5-880B-58A6DCD5B7B8}"/>
                </a:ext>
              </a:extLst>
            </p:cNvPr>
            <p:cNvSpPr/>
            <p:nvPr/>
          </p:nvSpPr>
          <p:spPr>
            <a:xfrm>
              <a:off x="1998200" y="2219150"/>
              <a:ext cx="141600" cy="141600"/>
            </a:xfrm>
            <a:prstGeom prst="ellipse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Google Shape;100;p16">
            <a:extLst>
              <a:ext uri="{FF2B5EF4-FFF2-40B4-BE49-F238E27FC236}">
                <a16:creationId xmlns:a16="http://schemas.microsoft.com/office/drawing/2014/main" id="{583C602A-AEC7-35E2-0F38-6ABF8DC45299}"/>
              </a:ext>
            </a:extLst>
          </p:cNvPr>
          <p:cNvSpPr/>
          <p:nvPr/>
        </p:nvSpPr>
        <p:spPr>
          <a:xfrm>
            <a:off x="557864" y="4997460"/>
            <a:ext cx="86927" cy="669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101;p16">
            <a:extLst>
              <a:ext uri="{FF2B5EF4-FFF2-40B4-BE49-F238E27FC236}">
                <a16:creationId xmlns:a16="http://schemas.microsoft.com/office/drawing/2014/main" id="{7CE25B93-93C6-F6CE-2C7A-5D3CA77DBAA3}"/>
              </a:ext>
            </a:extLst>
          </p:cNvPr>
          <p:cNvSpPr/>
          <p:nvPr/>
        </p:nvSpPr>
        <p:spPr>
          <a:xfrm>
            <a:off x="749228" y="4997460"/>
            <a:ext cx="86927" cy="669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" name="Google Shape;320;p20">
            <a:extLst>
              <a:ext uri="{FF2B5EF4-FFF2-40B4-BE49-F238E27FC236}">
                <a16:creationId xmlns:a16="http://schemas.microsoft.com/office/drawing/2014/main" id="{9CE8D690-EDBE-F601-6777-F649F123C165}"/>
              </a:ext>
            </a:extLst>
          </p:cNvPr>
          <p:cNvGrpSpPr/>
          <p:nvPr/>
        </p:nvGrpSpPr>
        <p:grpSpPr>
          <a:xfrm>
            <a:off x="3000981" y="1858257"/>
            <a:ext cx="5389800" cy="726300"/>
            <a:chOff x="1964700" y="1181900"/>
            <a:chExt cx="6293475" cy="726300"/>
          </a:xfrm>
        </p:grpSpPr>
        <p:grpSp>
          <p:nvGrpSpPr>
            <p:cNvPr id="42" name="Google Shape;321;p20">
              <a:extLst>
                <a:ext uri="{FF2B5EF4-FFF2-40B4-BE49-F238E27FC236}">
                  <a16:creationId xmlns:a16="http://schemas.microsoft.com/office/drawing/2014/main" id="{27F34E4C-C168-9A25-E201-2F4A04D73FE3}"/>
                </a:ext>
              </a:extLst>
            </p:cNvPr>
            <p:cNvGrpSpPr/>
            <p:nvPr/>
          </p:nvGrpSpPr>
          <p:grpSpPr>
            <a:xfrm>
              <a:off x="1964700" y="1232905"/>
              <a:ext cx="1022500" cy="624300"/>
              <a:chOff x="1964700" y="1232905"/>
              <a:chExt cx="1022500" cy="624300"/>
            </a:xfrm>
          </p:grpSpPr>
          <p:sp>
            <p:nvSpPr>
              <p:cNvPr id="47" name="Google Shape;322;p20">
                <a:extLst>
                  <a:ext uri="{FF2B5EF4-FFF2-40B4-BE49-F238E27FC236}">
                    <a16:creationId xmlns:a16="http://schemas.microsoft.com/office/drawing/2014/main" id="{E7ED77AC-06E9-6F1C-04E0-745AE6DBDD20}"/>
                  </a:ext>
                </a:extLst>
              </p:cNvPr>
              <p:cNvSpPr/>
              <p:nvPr/>
            </p:nvSpPr>
            <p:spPr>
              <a:xfrm>
                <a:off x="1964700" y="1232905"/>
                <a:ext cx="1022400" cy="624300"/>
              </a:xfrm>
              <a:prstGeom prst="leftArrowCallout">
                <a:avLst>
                  <a:gd name="adj1" fmla="val 25000"/>
                  <a:gd name="adj2" fmla="val 25000"/>
                  <a:gd name="adj3" fmla="val 25000"/>
                  <a:gd name="adj4" fmla="val 64977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323;p20">
                <a:extLst>
                  <a:ext uri="{FF2B5EF4-FFF2-40B4-BE49-F238E27FC236}">
                    <a16:creationId xmlns:a16="http://schemas.microsoft.com/office/drawing/2014/main" id="{FCFD1EB5-43AE-2AF6-A720-708C94CEF908}"/>
                  </a:ext>
                </a:extLst>
              </p:cNvPr>
              <p:cNvSpPr txBox="1"/>
              <p:nvPr/>
            </p:nvSpPr>
            <p:spPr>
              <a:xfrm>
                <a:off x="2326300" y="1360705"/>
                <a:ext cx="660900" cy="36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500" b="1" dirty="0">
                    <a:solidFill>
                      <a:srgbClr val="FFFFFF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1</a:t>
                </a:r>
                <a:endParaRPr sz="1600" b="1" dirty="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</p:grpSp>
        <p:sp>
          <p:nvSpPr>
            <p:cNvPr id="43" name="Google Shape;324;p20">
              <a:extLst>
                <a:ext uri="{FF2B5EF4-FFF2-40B4-BE49-F238E27FC236}">
                  <a16:creationId xmlns:a16="http://schemas.microsoft.com/office/drawing/2014/main" id="{E41A659C-1CEA-C6F8-CB17-200D2D045E14}"/>
                </a:ext>
              </a:extLst>
            </p:cNvPr>
            <p:cNvSpPr txBox="1"/>
            <p:nvPr/>
          </p:nvSpPr>
          <p:spPr>
            <a:xfrm>
              <a:off x="4211372" y="1306105"/>
              <a:ext cx="1271400" cy="477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1" dirty="0" err="1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Aquisição</a:t>
              </a:r>
              <a:endParaRPr sz="1600" b="1" dirty="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4" name="Google Shape;325;p20">
              <a:extLst>
                <a:ext uri="{FF2B5EF4-FFF2-40B4-BE49-F238E27FC236}">
                  <a16:creationId xmlns:a16="http://schemas.microsoft.com/office/drawing/2014/main" id="{B1EB7A79-4560-8AE2-98AC-FE17691C70CC}"/>
                </a:ext>
              </a:extLst>
            </p:cNvPr>
            <p:cNvSpPr txBox="1"/>
            <p:nvPr/>
          </p:nvSpPr>
          <p:spPr>
            <a:xfrm>
              <a:off x="6526275" y="1181900"/>
              <a:ext cx="1731900" cy="72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/>
              <a:r>
                <a:rPr lang="en-GB" sz="1200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Revisar</a:t>
              </a:r>
              <a:r>
                <a:rPr lang="en-GB" sz="1200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GB" sz="1200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estratégia</a:t>
              </a:r>
              <a:r>
                <a:rPr lang="en-GB" sz="1200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 de </a:t>
              </a:r>
              <a:r>
                <a:rPr lang="en-GB" sz="1200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aquisição</a:t>
              </a:r>
              <a:r>
                <a:rPr lang="en-GB" sz="1200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 a </a:t>
              </a:r>
              <a:r>
                <a:rPr lang="en-GB" sz="1200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fim</a:t>
              </a:r>
              <a:r>
                <a:rPr lang="en-GB" sz="1200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 de </a:t>
              </a:r>
              <a:r>
                <a:rPr lang="en-GB" sz="1200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trazer</a:t>
              </a:r>
              <a:r>
                <a:rPr lang="en-GB" sz="1200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 um novo mix de </a:t>
              </a:r>
              <a:r>
                <a:rPr lang="en-GB" sz="1200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clientes</a:t>
              </a:r>
              <a:endParaRPr sz="12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5" name="Google Shape;326;p20">
              <a:extLst>
                <a:ext uri="{FF2B5EF4-FFF2-40B4-BE49-F238E27FC236}">
                  <a16:creationId xmlns:a16="http://schemas.microsoft.com/office/drawing/2014/main" id="{95952377-E413-222C-580A-5DFF4A72E5E9}"/>
                </a:ext>
              </a:extLst>
            </p:cNvPr>
            <p:cNvCxnSpPr>
              <a:cxnSpLocks/>
              <a:stCxn id="48" idx="3"/>
              <a:endCxn id="43" idx="1"/>
            </p:cNvCxnSpPr>
            <p:nvPr/>
          </p:nvCxnSpPr>
          <p:spPr>
            <a:xfrm>
              <a:off x="2987200" y="1545055"/>
              <a:ext cx="12243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" name="Google Shape;327;p20">
              <a:extLst>
                <a:ext uri="{FF2B5EF4-FFF2-40B4-BE49-F238E27FC236}">
                  <a16:creationId xmlns:a16="http://schemas.microsoft.com/office/drawing/2014/main" id="{DD44F608-285E-9A59-932B-BD4BE4680BDF}"/>
                </a:ext>
              </a:extLst>
            </p:cNvPr>
            <p:cNvCxnSpPr>
              <a:cxnSpLocks/>
              <a:stCxn id="43" idx="3"/>
              <a:endCxn id="44" idx="1"/>
            </p:cNvCxnSpPr>
            <p:nvPr/>
          </p:nvCxnSpPr>
          <p:spPr>
            <a:xfrm>
              <a:off x="5482772" y="1545055"/>
              <a:ext cx="1043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7" name="Google Shape;336;p20">
            <a:extLst>
              <a:ext uri="{FF2B5EF4-FFF2-40B4-BE49-F238E27FC236}">
                <a16:creationId xmlns:a16="http://schemas.microsoft.com/office/drawing/2014/main" id="{095AFB40-DF05-FC1F-CDCC-3ED9AE7DEA2F}"/>
              </a:ext>
            </a:extLst>
          </p:cNvPr>
          <p:cNvGrpSpPr/>
          <p:nvPr/>
        </p:nvGrpSpPr>
        <p:grpSpPr>
          <a:xfrm>
            <a:off x="2689290" y="2984823"/>
            <a:ext cx="5560369" cy="726300"/>
            <a:chOff x="2553050" y="3049850"/>
            <a:chExt cx="5705200" cy="726300"/>
          </a:xfrm>
        </p:grpSpPr>
        <p:sp>
          <p:nvSpPr>
            <p:cNvPr id="58" name="Google Shape;337;p20">
              <a:extLst>
                <a:ext uri="{FF2B5EF4-FFF2-40B4-BE49-F238E27FC236}">
                  <a16:creationId xmlns:a16="http://schemas.microsoft.com/office/drawing/2014/main" id="{7B7F55F1-BB06-8A59-C221-7DBD3C84BED1}"/>
                </a:ext>
              </a:extLst>
            </p:cNvPr>
            <p:cNvSpPr txBox="1"/>
            <p:nvPr/>
          </p:nvSpPr>
          <p:spPr>
            <a:xfrm>
              <a:off x="4211372" y="3174048"/>
              <a:ext cx="1271400" cy="477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1" dirty="0" err="1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Qualidade</a:t>
              </a:r>
              <a:endParaRPr sz="1600" b="1" dirty="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59" name="Google Shape;338;p20">
              <a:extLst>
                <a:ext uri="{FF2B5EF4-FFF2-40B4-BE49-F238E27FC236}">
                  <a16:creationId xmlns:a16="http://schemas.microsoft.com/office/drawing/2014/main" id="{4B85810D-7909-2F90-2E73-A6F1273AD133}"/>
                </a:ext>
              </a:extLst>
            </p:cNvPr>
            <p:cNvSpPr txBox="1"/>
            <p:nvPr/>
          </p:nvSpPr>
          <p:spPr>
            <a:xfrm>
              <a:off x="6526350" y="3049850"/>
              <a:ext cx="1731900" cy="72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Monitorar e verificar os clientes ativos. Por que a redução de pedidos ?</a:t>
              </a:r>
              <a:endParaRPr sz="12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endParaRPr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60" name="Google Shape;339;p20">
              <a:extLst>
                <a:ext uri="{FF2B5EF4-FFF2-40B4-BE49-F238E27FC236}">
                  <a16:creationId xmlns:a16="http://schemas.microsoft.com/office/drawing/2014/main" id="{ADCF7846-AC24-BE73-CE1F-C6DD3D4A7C03}"/>
                </a:ext>
              </a:extLst>
            </p:cNvPr>
            <p:cNvGrpSpPr/>
            <p:nvPr/>
          </p:nvGrpSpPr>
          <p:grpSpPr>
            <a:xfrm>
              <a:off x="2553050" y="3100848"/>
              <a:ext cx="1022500" cy="624300"/>
              <a:chOff x="2553050" y="3100848"/>
              <a:chExt cx="1022500" cy="624300"/>
            </a:xfrm>
          </p:grpSpPr>
          <p:sp>
            <p:nvSpPr>
              <p:cNvPr id="63" name="Google Shape;340;p20">
                <a:extLst>
                  <a:ext uri="{FF2B5EF4-FFF2-40B4-BE49-F238E27FC236}">
                    <a16:creationId xmlns:a16="http://schemas.microsoft.com/office/drawing/2014/main" id="{BFAE4C79-9D17-B7A5-991A-2C594492A685}"/>
                  </a:ext>
                </a:extLst>
              </p:cNvPr>
              <p:cNvSpPr/>
              <p:nvPr/>
            </p:nvSpPr>
            <p:spPr>
              <a:xfrm>
                <a:off x="2553050" y="3100848"/>
                <a:ext cx="1022400" cy="624300"/>
              </a:xfrm>
              <a:prstGeom prst="leftArrowCallout">
                <a:avLst>
                  <a:gd name="adj1" fmla="val 25000"/>
                  <a:gd name="adj2" fmla="val 25000"/>
                  <a:gd name="adj3" fmla="val 25000"/>
                  <a:gd name="adj4" fmla="val 64977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341;p20">
                <a:extLst>
                  <a:ext uri="{FF2B5EF4-FFF2-40B4-BE49-F238E27FC236}">
                    <a16:creationId xmlns:a16="http://schemas.microsoft.com/office/drawing/2014/main" id="{FA018371-DD57-56AD-4D7C-A3BCF914EC86}"/>
                  </a:ext>
                </a:extLst>
              </p:cNvPr>
              <p:cNvSpPr txBox="1"/>
              <p:nvPr/>
            </p:nvSpPr>
            <p:spPr>
              <a:xfrm>
                <a:off x="2914650" y="3228648"/>
                <a:ext cx="660900" cy="36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500" b="1" dirty="0">
                    <a:solidFill>
                      <a:srgbClr val="FFFFFF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2</a:t>
                </a:r>
                <a:endParaRPr sz="1600" b="1" dirty="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</p:grpSp>
        <p:cxnSp>
          <p:nvCxnSpPr>
            <p:cNvPr id="61" name="Google Shape;342;p20">
              <a:extLst>
                <a:ext uri="{FF2B5EF4-FFF2-40B4-BE49-F238E27FC236}">
                  <a16:creationId xmlns:a16="http://schemas.microsoft.com/office/drawing/2014/main" id="{7A6BDE85-4EE5-1828-07D4-7A33E3B8FE61}"/>
                </a:ext>
              </a:extLst>
            </p:cNvPr>
            <p:cNvCxnSpPr>
              <a:cxnSpLocks/>
              <a:stCxn id="64" idx="3"/>
              <a:endCxn id="58" idx="1"/>
            </p:cNvCxnSpPr>
            <p:nvPr/>
          </p:nvCxnSpPr>
          <p:spPr>
            <a:xfrm>
              <a:off x="3575550" y="3412998"/>
              <a:ext cx="635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" name="Google Shape;343;p20">
              <a:extLst>
                <a:ext uri="{FF2B5EF4-FFF2-40B4-BE49-F238E27FC236}">
                  <a16:creationId xmlns:a16="http://schemas.microsoft.com/office/drawing/2014/main" id="{0E9EC1F4-E5F0-0FEF-7BFF-E160D1B5AAD8}"/>
                </a:ext>
              </a:extLst>
            </p:cNvPr>
            <p:cNvCxnSpPr>
              <a:cxnSpLocks/>
              <a:stCxn id="58" idx="3"/>
              <a:endCxn id="59" idx="1"/>
            </p:cNvCxnSpPr>
            <p:nvPr/>
          </p:nvCxnSpPr>
          <p:spPr>
            <a:xfrm>
              <a:off x="5482772" y="3412998"/>
              <a:ext cx="1043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5" name="Google Shape;344;p20">
            <a:extLst>
              <a:ext uri="{FF2B5EF4-FFF2-40B4-BE49-F238E27FC236}">
                <a16:creationId xmlns:a16="http://schemas.microsoft.com/office/drawing/2014/main" id="{32A1106C-8AB7-F1AE-2272-994804E6E078}"/>
              </a:ext>
            </a:extLst>
          </p:cNvPr>
          <p:cNvGrpSpPr/>
          <p:nvPr/>
        </p:nvGrpSpPr>
        <p:grpSpPr>
          <a:xfrm>
            <a:off x="2447925" y="3983825"/>
            <a:ext cx="5810450" cy="726300"/>
            <a:chOff x="1964700" y="3983825"/>
            <a:chExt cx="6293675" cy="726300"/>
          </a:xfrm>
        </p:grpSpPr>
        <p:sp>
          <p:nvSpPr>
            <p:cNvPr id="66" name="Google Shape;345;p20">
              <a:extLst>
                <a:ext uri="{FF2B5EF4-FFF2-40B4-BE49-F238E27FC236}">
                  <a16:creationId xmlns:a16="http://schemas.microsoft.com/office/drawing/2014/main" id="{0FD7ED77-32A5-959B-AB63-3CBE9A7FB43B}"/>
                </a:ext>
              </a:extLst>
            </p:cNvPr>
            <p:cNvSpPr txBox="1"/>
            <p:nvPr/>
          </p:nvSpPr>
          <p:spPr>
            <a:xfrm>
              <a:off x="4211372" y="4108019"/>
              <a:ext cx="1271400" cy="477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1" dirty="0" err="1">
                  <a:solidFill>
                    <a:schemeClr val="accent5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Estrategia</a:t>
              </a:r>
              <a:endParaRPr sz="1600" b="1" dirty="0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67" name="Google Shape;346;p20">
              <a:extLst>
                <a:ext uri="{FF2B5EF4-FFF2-40B4-BE49-F238E27FC236}">
                  <a16:creationId xmlns:a16="http://schemas.microsoft.com/office/drawing/2014/main" id="{3298C329-E99C-C522-790E-7FABFA6F25CE}"/>
                </a:ext>
              </a:extLst>
            </p:cNvPr>
            <p:cNvSpPr txBox="1"/>
            <p:nvPr/>
          </p:nvSpPr>
          <p:spPr>
            <a:xfrm>
              <a:off x="6526475" y="3983825"/>
              <a:ext cx="1731900" cy="72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GB" sz="1200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Oferecer</a:t>
              </a:r>
              <a:r>
                <a:rPr lang="en-GB" sz="1200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GB" sz="1200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plataformas</a:t>
              </a:r>
              <a:r>
                <a:rPr lang="en-GB" sz="1200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GB" sz="1200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aos</a:t>
              </a:r>
              <a:r>
                <a:rPr lang="en-GB" sz="1200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GB" sz="1200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clientes</a:t>
              </a:r>
              <a:r>
                <a:rPr lang="en-GB" sz="1200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 a </a:t>
              </a:r>
              <a:r>
                <a:rPr lang="en-GB" sz="1200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fim</a:t>
              </a:r>
              <a:r>
                <a:rPr lang="en-GB" sz="1200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 de </a:t>
              </a:r>
              <a:r>
                <a:rPr lang="en-GB" sz="1200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promover</a:t>
              </a:r>
              <a:r>
                <a:rPr lang="en-GB" sz="1200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 um </a:t>
              </a:r>
              <a:r>
                <a:rPr lang="en-GB" sz="1200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maior</a:t>
              </a:r>
              <a:r>
                <a:rPr lang="en-GB" sz="1200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GB" sz="1200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fluxo</a:t>
              </a:r>
              <a:r>
                <a:rPr lang="en-GB" sz="1200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 de </a:t>
              </a:r>
              <a:r>
                <a:rPr lang="en-GB" sz="1200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pedidos</a:t>
              </a:r>
              <a:endParaRPr sz="12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68" name="Google Shape;347;p20">
              <a:extLst>
                <a:ext uri="{FF2B5EF4-FFF2-40B4-BE49-F238E27FC236}">
                  <a16:creationId xmlns:a16="http://schemas.microsoft.com/office/drawing/2014/main" id="{8C1EBF78-2874-6649-C970-5B5EA12B3F62}"/>
                </a:ext>
              </a:extLst>
            </p:cNvPr>
            <p:cNvGrpSpPr/>
            <p:nvPr/>
          </p:nvGrpSpPr>
          <p:grpSpPr>
            <a:xfrm>
              <a:off x="1964700" y="4034819"/>
              <a:ext cx="1022500" cy="624300"/>
              <a:chOff x="1964700" y="4034819"/>
              <a:chExt cx="1022500" cy="624300"/>
            </a:xfrm>
          </p:grpSpPr>
          <p:sp>
            <p:nvSpPr>
              <p:cNvPr id="71" name="Google Shape;348;p20">
                <a:extLst>
                  <a:ext uri="{FF2B5EF4-FFF2-40B4-BE49-F238E27FC236}">
                    <a16:creationId xmlns:a16="http://schemas.microsoft.com/office/drawing/2014/main" id="{5C3843BA-EDA4-53B7-435C-C2D5911F2B6F}"/>
                  </a:ext>
                </a:extLst>
              </p:cNvPr>
              <p:cNvSpPr/>
              <p:nvPr/>
            </p:nvSpPr>
            <p:spPr>
              <a:xfrm>
                <a:off x="1964700" y="4034819"/>
                <a:ext cx="1022400" cy="624300"/>
              </a:xfrm>
              <a:prstGeom prst="leftArrowCallout">
                <a:avLst>
                  <a:gd name="adj1" fmla="val 25000"/>
                  <a:gd name="adj2" fmla="val 25000"/>
                  <a:gd name="adj3" fmla="val 25000"/>
                  <a:gd name="adj4" fmla="val 64977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349;p20">
                <a:extLst>
                  <a:ext uri="{FF2B5EF4-FFF2-40B4-BE49-F238E27FC236}">
                    <a16:creationId xmlns:a16="http://schemas.microsoft.com/office/drawing/2014/main" id="{A07EC89B-37F9-E4C6-818A-95AD647470B4}"/>
                  </a:ext>
                </a:extLst>
              </p:cNvPr>
              <p:cNvSpPr txBox="1"/>
              <p:nvPr/>
            </p:nvSpPr>
            <p:spPr>
              <a:xfrm>
                <a:off x="2326300" y="4162619"/>
                <a:ext cx="660900" cy="36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500" b="1" dirty="0">
                    <a:solidFill>
                      <a:srgbClr val="FFFFFF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3</a:t>
                </a:r>
                <a:endParaRPr sz="1600" b="1" dirty="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</p:grpSp>
        <p:cxnSp>
          <p:nvCxnSpPr>
            <p:cNvPr id="69" name="Google Shape;350;p20">
              <a:extLst>
                <a:ext uri="{FF2B5EF4-FFF2-40B4-BE49-F238E27FC236}">
                  <a16:creationId xmlns:a16="http://schemas.microsoft.com/office/drawing/2014/main" id="{6708F105-8A66-8EDD-A6DF-6C22F1F3EE06}"/>
                </a:ext>
              </a:extLst>
            </p:cNvPr>
            <p:cNvCxnSpPr>
              <a:cxnSpLocks/>
              <a:stCxn id="72" idx="3"/>
              <a:endCxn id="66" idx="1"/>
            </p:cNvCxnSpPr>
            <p:nvPr/>
          </p:nvCxnSpPr>
          <p:spPr>
            <a:xfrm>
              <a:off x="2987200" y="4346969"/>
              <a:ext cx="12243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" name="Google Shape;351;p20">
              <a:extLst>
                <a:ext uri="{FF2B5EF4-FFF2-40B4-BE49-F238E27FC236}">
                  <a16:creationId xmlns:a16="http://schemas.microsoft.com/office/drawing/2014/main" id="{835A24B8-7F9E-D22B-E1AF-5E1856C69193}"/>
                </a:ext>
              </a:extLst>
            </p:cNvPr>
            <p:cNvCxnSpPr>
              <a:cxnSpLocks/>
              <a:stCxn id="66" idx="3"/>
              <a:endCxn id="67" idx="1"/>
            </p:cNvCxnSpPr>
            <p:nvPr/>
          </p:nvCxnSpPr>
          <p:spPr>
            <a:xfrm>
              <a:off x="5482772" y="4346969"/>
              <a:ext cx="1043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3" name="Agrupar 112">
            <a:extLst>
              <a:ext uri="{FF2B5EF4-FFF2-40B4-BE49-F238E27FC236}">
                <a16:creationId xmlns:a16="http://schemas.microsoft.com/office/drawing/2014/main" id="{4024F758-4288-46A4-83C7-D02E6533F39F}"/>
              </a:ext>
            </a:extLst>
          </p:cNvPr>
          <p:cNvGrpSpPr/>
          <p:nvPr/>
        </p:nvGrpSpPr>
        <p:grpSpPr>
          <a:xfrm>
            <a:off x="288833" y="2918916"/>
            <a:ext cx="2192077" cy="690693"/>
            <a:chOff x="-39657" y="2585682"/>
            <a:chExt cx="2585991" cy="763990"/>
          </a:xfrm>
        </p:grpSpPr>
        <p:sp>
          <p:nvSpPr>
            <p:cNvPr id="91" name="Google Shape;185;p18">
              <a:extLst>
                <a:ext uri="{FF2B5EF4-FFF2-40B4-BE49-F238E27FC236}">
                  <a16:creationId xmlns:a16="http://schemas.microsoft.com/office/drawing/2014/main" id="{1D789AD1-443C-037D-6AEC-5A5E5363ED90}"/>
                </a:ext>
              </a:extLst>
            </p:cNvPr>
            <p:cNvSpPr/>
            <p:nvPr/>
          </p:nvSpPr>
          <p:spPr>
            <a:xfrm>
              <a:off x="-39657" y="2585682"/>
              <a:ext cx="2585991" cy="763990"/>
            </a:xfrm>
            <a:custGeom>
              <a:avLst/>
              <a:gdLst/>
              <a:ahLst/>
              <a:cxnLst/>
              <a:rect l="l" t="t" r="r" b="b"/>
              <a:pathLst>
                <a:path w="123564" h="36505" extrusionOk="0">
                  <a:moveTo>
                    <a:pt x="17658" y="0"/>
                  </a:moveTo>
                  <a:cubicBezTo>
                    <a:pt x="7906" y="0"/>
                    <a:pt x="1" y="7906"/>
                    <a:pt x="1" y="17657"/>
                  </a:cubicBezTo>
                  <a:lnTo>
                    <a:pt x="1" y="18848"/>
                  </a:lnTo>
                  <a:cubicBezTo>
                    <a:pt x="1" y="28611"/>
                    <a:pt x="7906" y="36505"/>
                    <a:pt x="17658" y="36505"/>
                  </a:cubicBezTo>
                  <a:lnTo>
                    <a:pt x="105907" y="36505"/>
                  </a:lnTo>
                  <a:cubicBezTo>
                    <a:pt x="115658" y="36505"/>
                    <a:pt x="123564" y="28611"/>
                    <a:pt x="123564" y="18848"/>
                  </a:cubicBezTo>
                  <a:lnTo>
                    <a:pt x="123564" y="17657"/>
                  </a:lnTo>
                  <a:cubicBezTo>
                    <a:pt x="123564" y="7906"/>
                    <a:pt x="115658" y="0"/>
                    <a:pt x="1059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88;p18">
              <a:extLst>
                <a:ext uri="{FF2B5EF4-FFF2-40B4-BE49-F238E27FC236}">
                  <a16:creationId xmlns:a16="http://schemas.microsoft.com/office/drawing/2014/main" id="{1A86E8FF-237A-E520-C811-D7478272793D}"/>
                </a:ext>
              </a:extLst>
            </p:cNvPr>
            <p:cNvSpPr/>
            <p:nvPr/>
          </p:nvSpPr>
          <p:spPr>
            <a:xfrm>
              <a:off x="715" y="2647108"/>
              <a:ext cx="641161" cy="641140"/>
            </a:xfrm>
            <a:custGeom>
              <a:avLst/>
              <a:gdLst/>
              <a:ahLst/>
              <a:cxnLst/>
              <a:rect l="l" t="t" r="r" b="b"/>
              <a:pathLst>
                <a:path w="30636" h="30635" extrusionOk="0">
                  <a:moveTo>
                    <a:pt x="15324" y="0"/>
                  </a:moveTo>
                  <a:cubicBezTo>
                    <a:pt x="6858" y="0"/>
                    <a:pt x="0" y="6858"/>
                    <a:pt x="0" y="15312"/>
                  </a:cubicBezTo>
                  <a:cubicBezTo>
                    <a:pt x="0" y="23777"/>
                    <a:pt x="6858" y="30635"/>
                    <a:pt x="15324" y="30635"/>
                  </a:cubicBezTo>
                  <a:cubicBezTo>
                    <a:pt x="23777" y="30635"/>
                    <a:pt x="30635" y="23777"/>
                    <a:pt x="30635" y="15312"/>
                  </a:cubicBezTo>
                  <a:cubicBezTo>
                    <a:pt x="30635" y="6858"/>
                    <a:pt x="23777" y="0"/>
                    <a:pt x="153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dirty="0"/>
            </a:p>
          </p:txBody>
        </p:sp>
        <p:sp>
          <p:nvSpPr>
            <p:cNvPr id="93" name="Google Shape;203;p18">
              <a:extLst>
                <a:ext uri="{FF2B5EF4-FFF2-40B4-BE49-F238E27FC236}">
                  <a16:creationId xmlns:a16="http://schemas.microsoft.com/office/drawing/2014/main" id="{BB653D4E-5C56-674E-2711-4D550AC97139}"/>
                </a:ext>
              </a:extLst>
            </p:cNvPr>
            <p:cNvSpPr txBox="1"/>
            <p:nvPr/>
          </p:nvSpPr>
          <p:spPr>
            <a:xfrm>
              <a:off x="827625" y="2814495"/>
              <a:ext cx="1527300" cy="30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 err="1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Foco</a:t>
              </a:r>
              <a:r>
                <a:rPr lang="en-GB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 </a:t>
              </a:r>
              <a:r>
                <a:rPr lang="en-GB" dirty="0" err="1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em</a:t>
              </a:r>
              <a:r>
                <a:rPr lang="en-GB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 volume</a:t>
              </a:r>
              <a:endParaRPr dirty="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grpSp>
          <p:nvGrpSpPr>
            <p:cNvPr id="95" name="Google Shape;209;p18">
              <a:extLst>
                <a:ext uri="{FF2B5EF4-FFF2-40B4-BE49-F238E27FC236}">
                  <a16:creationId xmlns:a16="http://schemas.microsoft.com/office/drawing/2014/main" id="{3C94134F-31FE-E7F4-DBC3-175B2909C3E8}"/>
                </a:ext>
              </a:extLst>
            </p:cNvPr>
            <p:cNvGrpSpPr/>
            <p:nvPr/>
          </p:nvGrpSpPr>
          <p:grpSpPr>
            <a:xfrm>
              <a:off x="140791" y="2794252"/>
              <a:ext cx="347177" cy="347177"/>
              <a:chOff x="1049375" y="2680675"/>
              <a:chExt cx="297725" cy="297725"/>
            </a:xfrm>
          </p:grpSpPr>
          <p:sp>
            <p:nvSpPr>
              <p:cNvPr id="96" name="Google Shape;210;p18">
                <a:extLst>
                  <a:ext uri="{FF2B5EF4-FFF2-40B4-BE49-F238E27FC236}">
                    <a16:creationId xmlns:a16="http://schemas.microsoft.com/office/drawing/2014/main" id="{D03F2C41-400B-EA6A-80AF-B01F23E519E3}"/>
                  </a:ext>
                </a:extLst>
              </p:cNvPr>
              <p:cNvSpPr/>
              <p:nvPr/>
            </p:nvSpPr>
            <p:spPr>
              <a:xfrm>
                <a:off x="1113175" y="2752350"/>
                <a:ext cx="161475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6459" h="6239" extrusionOk="0">
                    <a:moveTo>
                      <a:pt x="3403" y="2079"/>
                    </a:moveTo>
                    <a:cubicBezTo>
                      <a:pt x="3781" y="2079"/>
                      <a:pt x="4096" y="2394"/>
                      <a:pt x="4096" y="2773"/>
                    </a:cubicBezTo>
                    <a:cubicBezTo>
                      <a:pt x="4096" y="3182"/>
                      <a:pt x="3781" y="3497"/>
                      <a:pt x="3403" y="3497"/>
                    </a:cubicBezTo>
                    <a:cubicBezTo>
                      <a:pt x="2993" y="3434"/>
                      <a:pt x="2678" y="3119"/>
                      <a:pt x="2678" y="2773"/>
                    </a:cubicBezTo>
                    <a:cubicBezTo>
                      <a:pt x="2678" y="2394"/>
                      <a:pt x="2993" y="2079"/>
                      <a:pt x="3403" y="2079"/>
                    </a:cubicBezTo>
                    <a:close/>
                    <a:moveTo>
                      <a:pt x="3371" y="693"/>
                    </a:moveTo>
                    <a:cubicBezTo>
                      <a:pt x="4694" y="693"/>
                      <a:pt x="5765" y="1796"/>
                      <a:pt x="5765" y="3119"/>
                    </a:cubicBezTo>
                    <a:cubicBezTo>
                      <a:pt x="5765" y="3686"/>
                      <a:pt x="5545" y="4222"/>
                      <a:pt x="5198" y="4663"/>
                    </a:cubicBezTo>
                    <a:cubicBezTo>
                      <a:pt x="5072" y="4442"/>
                      <a:pt x="4915" y="4190"/>
                      <a:pt x="4694" y="4001"/>
                    </a:cubicBezTo>
                    <a:cubicBezTo>
                      <a:pt x="4568" y="3907"/>
                      <a:pt x="4442" y="3812"/>
                      <a:pt x="4348" y="3749"/>
                    </a:cubicBezTo>
                    <a:cubicBezTo>
                      <a:pt x="4568" y="3529"/>
                      <a:pt x="4726" y="3182"/>
                      <a:pt x="4726" y="2804"/>
                    </a:cubicBezTo>
                    <a:cubicBezTo>
                      <a:pt x="4726" y="2079"/>
                      <a:pt x="4096" y="1449"/>
                      <a:pt x="3340" y="1449"/>
                    </a:cubicBezTo>
                    <a:cubicBezTo>
                      <a:pt x="2615" y="1449"/>
                      <a:pt x="1985" y="2079"/>
                      <a:pt x="1985" y="2804"/>
                    </a:cubicBezTo>
                    <a:cubicBezTo>
                      <a:pt x="1985" y="3182"/>
                      <a:pt x="2142" y="3529"/>
                      <a:pt x="2363" y="3749"/>
                    </a:cubicBezTo>
                    <a:lnTo>
                      <a:pt x="2016" y="4001"/>
                    </a:lnTo>
                    <a:cubicBezTo>
                      <a:pt x="1827" y="4190"/>
                      <a:pt x="1607" y="4442"/>
                      <a:pt x="1512" y="4663"/>
                    </a:cubicBezTo>
                    <a:cubicBezTo>
                      <a:pt x="1040" y="4064"/>
                      <a:pt x="882" y="3434"/>
                      <a:pt x="945" y="2773"/>
                    </a:cubicBezTo>
                    <a:cubicBezTo>
                      <a:pt x="1103" y="1670"/>
                      <a:pt x="2111" y="693"/>
                      <a:pt x="3371" y="693"/>
                    </a:cubicBezTo>
                    <a:close/>
                    <a:moveTo>
                      <a:pt x="3371" y="4159"/>
                    </a:moveTo>
                    <a:cubicBezTo>
                      <a:pt x="4001" y="4159"/>
                      <a:pt x="4505" y="4600"/>
                      <a:pt x="4694" y="5135"/>
                    </a:cubicBezTo>
                    <a:cubicBezTo>
                      <a:pt x="4316" y="5387"/>
                      <a:pt x="3875" y="5545"/>
                      <a:pt x="3371" y="5545"/>
                    </a:cubicBezTo>
                    <a:cubicBezTo>
                      <a:pt x="2898" y="5545"/>
                      <a:pt x="2426" y="5387"/>
                      <a:pt x="2016" y="5135"/>
                    </a:cubicBezTo>
                    <a:cubicBezTo>
                      <a:pt x="2174" y="4537"/>
                      <a:pt x="2741" y="4159"/>
                      <a:pt x="3371" y="4159"/>
                    </a:cubicBezTo>
                    <a:close/>
                    <a:moveTo>
                      <a:pt x="3308" y="0"/>
                    </a:moveTo>
                    <a:cubicBezTo>
                      <a:pt x="1701" y="0"/>
                      <a:pt x="441" y="1229"/>
                      <a:pt x="252" y="2710"/>
                    </a:cubicBezTo>
                    <a:cubicBezTo>
                      <a:pt x="0" y="4600"/>
                      <a:pt x="1512" y="6238"/>
                      <a:pt x="3371" y="6238"/>
                    </a:cubicBezTo>
                    <a:cubicBezTo>
                      <a:pt x="5104" y="6238"/>
                      <a:pt x="6459" y="4820"/>
                      <a:pt x="6459" y="3119"/>
                    </a:cubicBezTo>
                    <a:cubicBezTo>
                      <a:pt x="6459" y="1386"/>
                      <a:pt x="5041" y="0"/>
                      <a:pt x="33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211;p18">
                <a:extLst>
                  <a:ext uri="{FF2B5EF4-FFF2-40B4-BE49-F238E27FC236}">
                    <a16:creationId xmlns:a16="http://schemas.microsoft.com/office/drawing/2014/main" id="{03687A5D-E4BA-CF90-F510-146B7D943A98}"/>
                  </a:ext>
                </a:extLst>
              </p:cNvPr>
              <p:cNvSpPr/>
              <p:nvPr/>
            </p:nvSpPr>
            <p:spPr>
              <a:xfrm>
                <a:off x="1049375" y="2680675"/>
                <a:ext cx="297725" cy="297725"/>
              </a:xfrm>
              <a:custGeom>
                <a:avLst/>
                <a:gdLst/>
                <a:ahLst/>
                <a:cxnLst/>
                <a:rect l="l" t="t" r="r" b="b"/>
                <a:pathLst>
                  <a:path w="11909" h="11909" extrusionOk="0">
                    <a:moveTo>
                      <a:pt x="6270" y="1512"/>
                    </a:moveTo>
                    <a:cubicBezTo>
                      <a:pt x="8475" y="1670"/>
                      <a:pt x="10239" y="3434"/>
                      <a:pt x="10397" y="5640"/>
                    </a:cubicBezTo>
                    <a:lnTo>
                      <a:pt x="10082" y="5640"/>
                    </a:lnTo>
                    <a:cubicBezTo>
                      <a:pt x="9893" y="5640"/>
                      <a:pt x="9735" y="5797"/>
                      <a:pt x="9735" y="5986"/>
                    </a:cubicBezTo>
                    <a:cubicBezTo>
                      <a:pt x="9735" y="6207"/>
                      <a:pt x="9893" y="6364"/>
                      <a:pt x="10082" y="6364"/>
                    </a:cubicBezTo>
                    <a:lnTo>
                      <a:pt x="10397" y="6364"/>
                    </a:lnTo>
                    <a:cubicBezTo>
                      <a:pt x="10239" y="8569"/>
                      <a:pt x="8475" y="10334"/>
                      <a:pt x="6270" y="10491"/>
                    </a:cubicBezTo>
                    <a:lnTo>
                      <a:pt x="6270" y="10176"/>
                    </a:lnTo>
                    <a:cubicBezTo>
                      <a:pt x="6270" y="9987"/>
                      <a:pt x="6112" y="9830"/>
                      <a:pt x="5923" y="9830"/>
                    </a:cubicBezTo>
                    <a:cubicBezTo>
                      <a:pt x="5703" y="9830"/>
                      <a:pt x="5545" y="9987"/>
                      <a:pt x="5545" y="10176"/>
                    </a:cubicBezTo>
                    <a:lnTo>
                      <a:pt x="5545" y="10491"/>
                    </a:lnTo>
                    <a:cubicBezTo>
                      <a:pt x="3340" y="10334"/>
                      <a:pt x="1575" y="8569"/>
                      <a:pt x="1418" y="6364"/>
                    </a:cubicBezTo>
                    <a:lnTo>
                      <a:pt x="1733" y="6364"/>
                    </a:lnTo>
                    <a:cubicBezTo>
                      <a:pt x="1922" y="6364"/>
                      <a:pt x="2079" y="6207"/>
                      <a:pt x="2079" y="5986"/>
                    </a:cubicBezTo>
                    <a:cubicBezTo>
                      <a:pt x="2142" y="5797"/>
                      <a:pt x="1985" y="5640"/>
                      <a:pt x="1764" y="5640"/>
                    </a:cubicBezTo>
                    <a:lnTo>
                      <a:pt x="1418" y="5640"/>
                    </a:lnTo>
                    <a:cubicBezTo>
                      <a:pt x="1575" y="3434"/>
                      <a:pt x="3340" y="1670"/>
                      <a:pt x="5545" y="1512"/>
                    </a:cubicBezTo>
                    <a:lnTo>
                      <a:pt x="5545" y="1827"/>
                    </a:lnTo>
                    <a:cubicBezTo>
                      <a:pt x="5545" y="2016"/>
                      <a:pt x="5703" y="2174"/>
                      <a:pt x="5923" y="2174"/>
                    </a:cubicBezTo>
                    <a:cubicBezTo>
                      <a:pt x="6112" y="2174"/>
                      <a:pt x="6270" y="2016"/>
                      <a:pt x="6270" y="1827"/>
                    </a:cubicBezTo>
                    <a:lnTo>
                      <a:pt x="6270" y="1512"/>
                    </a:lnTo>
                    <a:close/>
                    <a:moveTo>
                      <a:pt x="5955" y="0"/>
                    </a:moveTo>
                    <a:cubicBezTo>
                      <a:pt x="5766" y="0"/>
                      <a:pt x="5608" y="158"/>
                      <a:pt x="5608" y="347"/>
                    </a:cubicBezTo>
                    <a:lnTo>
                      <a:pt x="5608" y="756"/>
                    </a:lnTo>
                    <a:cubicBezTo>
                      <a:pt x="2993" y="914"/>
                      <a:pt x="914" y="2993"/>
                      <a:pt x="756" y="5608"/>
                    </a:cubicBezTo>
                    <a:lnTo>
                      <a:pt x="347" y="5608"/>
                    </a:lnTo>
                    <a:cubicBezTo>
                      <a:pt x="158" y="5608"/>
                      <a:pt x="0" y="5766"/>
                      <a:pt x="0" y="5955"/>
                    </a:cubicBezTo>
                    <a:cubicBezTo>
                      <a:pt x="0" y="6144"/>
                      <a:pt x="158" y="6301"/>
                      <a:pt x="347" y="6301"/>
                    </a:cubicBezTo>
                    <a:lnTo>
                      <a:pt x="756" y="6301"/>
                    </a:lnTo>
                    <a:cubicBezTo>
                      <a:pt x="914" y="8916"/>
                      <a:pt x="2993" y="10995"/>
                      <a:pt x="5608" y="11153"/>
                    </a:cubicBezTo>
                    <a:lnTo>
                      <a:pt x="5608" y="11562"/>
                    </a:lnTo>
                    <a:cubicBezTo>
                      <a:pt x="5608" y="11751"/>
                      <a:pt x="5766" y="11909"/>
                      <a:pt x="5955" y="11909"/>
                    </a:cubicBezTo>
                    <a:cubicBezTo>
                      <a:pt x="6144" y="11909"/>
                      <a:pt x="6301" y="11751"/>
                      <a:pt x="6301" y="11562"/>
                    </a:cubicBezTo>
                    <a:lnTo>
                      <a:pt x="6301" y="11153"/>
                    </a:lnTo>
                    <a:cubicBezTo>
                      <a:pt x="8916" y="10995"/>
                      <a:pt x="10995" y="8916"/>
                      <a:pt x="11153" y="6301"/>
                    </a:cubicBezTo>
                    <a:lnTo>
                      <a:pt x="11531" y="6301"/>
                    </a:lnTo>
                    <a:cubicBezTo>
                      <a:pt x="11751" y="6301"/>
                      <a:pt x="11909" y="6144"/>
                      <a:pt x="11909" y="5955"/>
                    </a:cubicBezTo>
                    <a:cubicBezTo>
                      <a:pt x="11909" y="5766"/>
                      <a:pt x="11751" y="5608"/>
                      <a:pt x="11531" y="5608"/>
                    </a:cubicBezTo>
                    <a:lnTo>
                      <a:pt x="11153" y="5608"/>
                    </a:lnTo>
                    <a:cubicBezTo>
                      <a:pt x="10995" y="2993"/>
                      <a:pt x="8916" y="914"/>
                      <a:pt x="6301" y="756"/>
                    </a:cubicBezTo>
                    <a:lnTo>
                      <a:pt x="6301" y="347"/>
                    </a:lnTo>
                    <a:cubicBezTo>
                      <a:pt x="6301" y="158"/>
                      <a:pt x="6144" y="0"/>
                      <a:pt x="59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1" name="Agrupar 110">
            <a:extLst>
              <a:ext uri="{FF2B5EF4-FFF2-40B4-BE49-F238E27FC236}">
                <a16:creationId xmlns:a16="http://schemas.microsoft.com/office/drawing/2014/main" id="{E7D90184-1655-B8E5-3AC3-262650FCC7CA}"/>
              </a:ext>
            </a:extLst>
          </p:cNvPr>
          <p:cNvGrpSpPr/>
          <p:nvPr/>
        </p:nvGrpSpPr>
        <p:grpSpPr>
          <a:xfrm>
            <a:off x="472849" y="1912818"/>
            <a:ext cx="2116591" cy="697615"/>
            <a:chOff x="-39657" y="1713645"/>
            <a:chExt cx="2585991" cy="764241"/>
          </a:xfrm>
        </p:grpSpPr>
        <p:sp>
          <p:nvSpPr>
            <p:cNvPr id="89" name="Google Shape;176;p18">
              <a:extLst>
                <a:ext uri="{FF2B5EF4-FFF2-40B4-BE49-F238E27FC236}">
                  <a16:creationId xmlns:a16="http://schemas.microsoft.com/office/drawing/2014/main" id="{5B62ADE4-CAA9-6E5D-FE26-D874483AB5F1}"/>
                </a:ext>
              </a:extLst>
            </p:cNvPr>
            <p:cNvSpPr/>
            <p:nvPr/>
          </p:nvSpPr>
          <p:spPr>
            <a:xfrm>
              <a:off x="-39657" y="1713645"/>
              <a:ext cx="2585991" cy="764241"/>
            </a:xfrm>
            <a:custGeom>
              <a:avLst/>
              <a:gdLst/>
              <a:ahLst/>
              <a:cxnLst/>
              <a:rect l="l" t="t" r="r" b="b"/>
              <a:pathLst>
                <a:path w="123564" h="36517" extrusionOk="0">
                  <a:moveTo>
                    <a:pt x="17658" y="0"/>
                  </a:moveTo>
                  <a:cubicBezTo>
                    <a:pt x="7906" y="0"/>
                    <a:pt x="1" y="7906"/>
                    <a:pt x="1" y="17657"/>
                  </a:cubicBezTo>
                  <a:lnTo>
                    <a:pt x="1" y="18848"/>
                  </a:lnTo>
                  <a:cubicBezTo>
                    <a:pt x="1" y="28611"/>
                    <a:pt x="7906" y="36517"/>
                    <a:pt x="17658" y="36517"/>
                  </a:cubicBezTo>
                  <a:lnTo>
                    <a:pt x="105907" y="36517"/>
                  </a:lnTo>
                  <a:cubicBezTo>
                    <a:pt x="115658" y="36517"/>
                    <a:pt x="123564" y="28611"/>
                    <a:pt x="123564" y="18848"/>
                  </a:cubicBezTo>
                  <a:lnTo>
                    <a:pt x="123564" y="17657"/>
                  </a:lnTo>
                  <a:cubicBezTo>
                    <a:pt x="123564" y="7906"/>
                    <a:pt x="115658" y="0"/>
                    <a:pt x="1059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77;p18">
              <a:extLst>
                <a:ext uri="{FF2B5EF4-FFF2-40B4-BE49-F238E27FC236}">
                  <a16:creationId xmlns:a16="http://schemas.microsoft.com/office/drawing/2014/main" id="{CBF17AA6-C6F3-9364-A22E-525F638F783A}"/>
                </a:ext>
              </a:extLst>
            </p:cNvPr>
            <p:cNvSpPr/>
            <p:nvPr/>
          </p:nvSpPr>
          <p:spPr>
            <a:xfrm>
              <a:off x="715" y="1775196"/>
              <a:ext cx="641161" cy="641140"/>
            </a:xfrm>
            <a:custGeom>
              <a:avLst/>
              <a:gdLst/>
              <a:ahLst/>
              <a:cxnLst/>
              <a:rect l="l" t="t" r="r" b="b"/>
              <a:pathLst>
                <a:path w="30636" h="30635" extrusionOk="0">
                  <a:moveTo>
                    <a:pt x="15324" y="0"/>
                  </a:moveTo>
                  <a:cubicBezTo>
                    <a:pt x="6858" y="0"/>
                    <a:pt x="0" y="6858"/>
                    <a:pt x="0" y="15311"/>
                  </a:cubicBezTo>
                  <a:cubicBezTo>
                    <a:pt x="0" y="23777"/>
                    <a:pt x="6858" y="30635"/>
                    <a:pt x="15324" y="30635"/>
                  </a:cubicBezTo>
                  <a:cubicBezTo>
                    <a:pt x="23777" y="30635"/>
                    <a:pt x="30635" y="23777"/>
                    <a:pt x="30635" y="15311"/>
                  </a:cubicBezTo>
                  <a:cubicBezTo>
                    <a:pt x="30635" y="6858"/>
                    <a:pt x="23777" y="0"/>
                    <a:pt x="153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3000">
                <a:solidFill>
                  <a:srgbClr val="434343"/>
                </a:solidFill>
              </a:endParaRPr>
            </a:p>
          </p:txBody>
        </p:sp>
        <p:sp>
          <p:nvSpPr>
            <p:cNvPr id="94" name="Google Shape;207;p18">
              <a:extLst>
                <a:ext uri="{FF2B5EF4-FFF2-40B4-BE49-F238E27FC236}">
                  <a16:creationId xmlns:a16="http://schemas.microsoft.com/office/drawing/2014/main" id="{D6AACF7F-0BA9-D3F5-48F7-BF7AFE28D38D}"/>
                </a:ext>
              </a:extLst>
            </p:cNvPr>
            <p:cNvSpPr txBox="1"/>
            <p:nvPr/>
          </p:nvSpPr>
          <p:spPr>
            <a:xfrm>
              <a:off x="827549" y="1945125"/>
              <a:ext cx="1527300" cy="30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Mix </a:t>
              </a:r>
              <a:r>
                <a:rPr lang="en-GB" sz="1600" dirty="0" err="1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clientes</a:t>
              </a:r>
              <a:endParaRPr sz="1600" dirty="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grpSp>
          <p:nvGrpSpPr>
            <p:cNvPr id="98" name="Google Shape;212;p18">
              <a:extLst>
                <a:ext uri="{FF2B5EF4-FFF2-40B4-BE49-F238E27FC236}">
                  <a16:creationId xmlns:a16="http://schemas.microsoft.com/office/drawing/2014/main" id="{39DD8434-4032-8227-DC69-05E2EFED3A2B}"/>
                </a:ext>
              </a:extLst>
            </p:cNvPr>
            <p:cNvGrpSpPr/>
            <p:nvPr/>
          </p:nvGrpSpPr>
          <p:grpSpPr>
            <a:xfrm>
              <a:off x="142652" y="1922360"/>
              <a:ext cx="345370" cy="344466"/>
              <a:chOff x="3599700" y="1954475"/>
              <a:chExt cx="296175" cy="295400"/>
            </a:xfrm>
          </p:grpSpPr>
          <p:sp>
            <p:nvSpPr>
              <p:cNvPr id="99" name="Google Shape;213;p18">
                <a:extLst>
                  <a:ext uri="{FF2B5EF4-FFF2-40B4-BE49-F238E27FC236}">
                    <a16:creationId xmlns:a16="http://schemas.microsoft.com/office/drawing/2014/main" id="{29925B35-8FD6-CB77-AB69-A790EC1B7718}"/>
                  </a:ext>
                </a:extLst>
              </p:cNvPr>
              <p:cNvSpPr/>
              <p:nvPr/>
            </p:nvSpPr>
            <p:spPr>
              <a:xfrm>
                <a:off x="3599700" y="1954475"/>
                <a:ext cx="296175" cy="29540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11816" extrusionOk="0">
                    <a:moveTo>
                      <a:pt x="3151" y="694"/>
                    </a:moveTo>
                    <a:cubicBezTo>
                      <a:pt x="3718" y="694"/>
                      <a:pt x="4159" y="1166"/>
                      <a:pt x="4159" y="1734"/>
                    </a:cubicBezTo>
                    <a:cubicBezTo>
                      <a:pt x="4159" y="2301"/>
                      <a:pt x="3686" y="2742"/>
                      <a:pt x="3151" y="2742"/>
                    </a:cubicBezTo>
                    <a:cubicBezTo>
                      <a:pt x="2584" y="2742"/>
                      <a:pt x="2111" y="2269"/>
                      <a:pt x="2111" y="1734"/>
                    </a:cubicBezTo>
                    <a:cubicBezTo>
                      <a:pt x="2080" y="1166"/>
                      <a:pt x="2552" y="694"/>
                      <a:pt x="3151" y="694"/>
                    </a:cubicBezTo>
                    <a:close/>
                    <a:moveTo>
                      <a:pt x="8727" y="694"/>
                    </a:moveTo>
                    <a:cubicBezTo>
                      <a:pt x="9326" y="694"/>
                      <a:pt x="9767" y="1166"/>
                      <a:pt x="9767" y="1734"/>
                    </a:cubicBezTo>
                    <a:cubicBezTo>
                      <a:pt x="9767" y="2301"/>
                      <a:pt x="9294" y="2742"/>
                      <a:pt x="8727" y="2742"/>
                    </a:cubicBezTo>
                    <a:cubicBezTo>
                      <a:pt x="8128" y="2742"/>
                      <a:pt x="7719" y="2269"/>
                      <a:pt x="7719" y="1734"/>
                    </a:cubicBezTo>
                    <a:cubicBezTo>
                      <a:pt x="7656" y="1166"/>
                      <a:pt x="8128" y="694"/>
                      <a:pt x="8727" y="694"/>
                    </a:cubicBezTo>
                    <a:close/>
                    <a:moveTo>
                      <a:pt x="5923" y="4852"/>
                    </a:moveTo>
                    <a:cubicBezTo>
                      <a:pt x="6522" y="4852"/>
                      <a:pt x="6994" y="5325"/>
                      <a:pt x="6994" y="5861"/>
                    </a:cubicBezTo>
                    <a:cubicBezTo>
                      <a:pt x="6994" y="6396"/>
                      <a:pt x="6522" y="6869"/>
                      <a:pt x="5923" y="6869"/>
                    </a:cubicBezTo>
                    <a:cubicBezTo>
                      <a:pt x="5356" y="6869"/>
                      <a:pt x="4883" y="6428"/>
                      <a:pt x="4883" y="5861"/>
                    </a:cubicBezTo>
                    <a:cubicBezTo>
                      <a:pt x="4883" y="5294"/>
                      <a:pt x="5356" y="4852"/>
                      <a:pt x="5923" y="4852"/>
                    </a:cubicBezTo>
                    <a:close/>
                    <a:moveTo>
                      <a:pt x="3151" y="3466"/>
                    </a:moveTo>
                    <a:cubicBezTo>
                      <a:pt x="3875" y="3466"/>
                      <a:pt x="4600" y="3813"/>
                      <a:pt x="5072" y="4380"/>
                    </a:cubicBezTo>
                    <a:cubicBezTo>
                      <a:pt x="4537" y="4695"/>
                      <a:pt x="4159" y="5231"/>
                      <a:pt x="4159" y="5861"/>
                    </a:cubicBezTo>
                    <a:cubicBezTo>
                      <a:pt x="4159" y="6239"/>
                      <a:pt x="4285" y="6617"/>
                      <a:pt x="4505" y="6900"/>
                    </a:cubicBezTo>
                    <a:lnTo>
                      <a:pt x="693" y="6900"/>
                    </a:lnTo>
                    <a:lnTo>
                      <a:pt x="693" y="5892"/>
                    </a:lnTo>
                    <a:cubicBezTo>
                      <a:pt x="693" y="4569"/>
                      <a:pt x="1796" y="3466"/>
                      <a:pt x="3151" y="3466"/>
                    </a:cubicBezTo>
                    <a:close/>
                    <a:moveTo>
                      <a:pt x="8696" y="3498"/>
                    </a:moveTo>
                    <a:cubicBezTo>
                      <a:pt x="10019" y="3498"/>
                      <a:pt x="11121" y="4600"/>
                      <a:pt x="11121" y="5955"/>
                    </a:cubicBezTo>
                    <a:lnTo>
                      <a:pt x="11121" y="6932"/>
                    </a:lnTo>
                    <a:lnTo>
                      <a:pt x="7309" y="6932"/>
                    </a:lnTo>
                    <a:cubicBezTo>
                      <a:pt x="7561" y="6617"/>
                      <a:pt x="7656" y="6270"/>
                      <a:pt x="7656" y="5892"/>
                    </a:cubicBezTo>
                    <a:cubicBezTo>
                      <a:pt x="7656" y="5262"/>
                      <a:pt x="7309" y="4726"/>
                      <a:pt x="6774" y="4411"/>
                    </a:cubicBezTo>
                    <a:cubicBezTo>
                      <a:pt x="7215" y="3813"/>
                      <a:pt x="7939" y="3498"/>
                      <a:pt x="8696" y="3498"/>
                    </a:cubicBezTo>
                    <a:close/>
                    <a:moveTo>
                      <a:pt x="5923" y="7625"/>
                    </a:moveTo>
                    <a:cubicBezTo>
                      <a:pt x="6207" y="7625"/>
                      <a:pt x="6490" y="7656"/>
                      <a:pt x="6711" y="7751"/>
                    </a:cubicBezTo>
                    <a:lnTo>
                      <a:pt x="5923" y="8791"/>
                    </a:lnTo>
                    <a:lnTo>
                      <a:pt x="5135" y="7751"/>
                    </a:lnTo>
                    <a:cubicBezTo>
                      <a:pt x="5388" y="7688"/>
                      <a:pt x="5671" y="7625"/>
                      <a:pt x="5923" y="7625"/>
                    </a:cubicBezTo>
                    <a:close/>
                    <a:moveTo>
                      <a:pt x="4505" y="8066"/>
                    </a:moveTo>
                    <a:lnTo>
                      <a:pt x="5577" y="9484"/>
                    </a:lnTo>
                    <a:lnTo>
                      <a:pt x="5577" y="11153"/>
                    </a:lnTo>
                    <a:lnTo>
                      <a:pt x="3497" y="11153"/>
                    </a:lnTo>
                    <a:lnTo>
                      <a:pt x="3497" y="10019"/>
                    </a:lnTo>
                    <a:cubicBezTo>
                      <a:pt x="3497" y="9200"/>
                      <a:pt x="3875" y="8507"/>
                      <a:pt x="4505" y="8066"/>
                    </a:cubicBezTo>
                    <a:close/>
                    <a:moveTo>
                      <a:pt x="7341" y="8066"/>
                    </a:moveTo>
                    <a:cubicBezTo>
                      <a:pt x="7939" y="8507"/>
                      <a:pt x="8381" y="9263"/>
                      <a:pt x="8381" y="10051"/>
                    </a:cubicBezTo>
                    <a:lnTo>
                      <a:pt x="8381" y="11153"/>
                    </a:lnTo>
                    <a:lnTo>
                      <a:pt x="6301" y="11153"/>
                    </a:lnTo>
                    <a:lnTo>
                      <a:pt x="6301" y="9484"/>
                    </a:lnTo>
                    <a:lnTo>
                      <a:pt x="7341" y="8066"/>
                    </a:lnTo>
                    <a:close/>
                    <a:moveTo>
                      <a:pt x="3088" y="1"/>
                    </a:moveTo>
                    <a:cubicBezTo>
                      <a:pt x="2143" y="1"/>
                      <a:pt x="1355" y="788"/>
                      <a:pt x="1355" y="1734"/>
                    </a:cubicBezTo>
                    <a:cubicBezTo>
                      <a:pt x="1355" y="2238"/>
                      <a:pt x="1575" y="2679"/>
                      <a:pt x="1922" y="2994"/>
                    </a:cubicBezTo>
                    <a:cubicBezTo>
                      <a:pt x="788" y="3466"/>
                      <a:pt x="0" y="4569"/>
                      <a:pt x="0" y="5861"/>
                    </a:cubicBezTo>
                    <a:lnTo>
                      <a:pt x="0" y="7247"/>
                    </a:lnTo>
                    <a:cubicBezTo>
                      <a:pt x="0" y="7436"/>
                      <a:pt x="158" y="7593"/>
                      <a:pt x="347" y="7593"/>
                    </a:cubicBezTo>
                    <a:lnTo>
                      <a:pt x="3938" y="7593"/>
                    </a:lnTo>
                    <a:cubicBezTo>
                      <a:pt x="3214" y="8192"/>
                      <a:pt x="2741" y="9043"/>
                      <a:pt x="2741" y="10019"/>
                    </a:cubicBezTo>
                    <a:lnTo>
                      <a:pt x="2741" y="11437"/>
                    </a:lnTo>
                    <a:cubicBezTo>
                      <a:pt x="2741" y="11658"/>
                      <a:pt x="2899" y="11815"/>
                      <a:pt x="3088" y="11815"/>
                    </a:cubicBezTo>
                    <a:lnTo>
                      <a:pt x="8696" y="11815"/>
                    </a:lnTo>
                    <a:cubicBezTo>
                      <a:pt x="8885" y="11815"/>
                      <a:pt x="9042" y="11658"/>
                      <a:pt x="9042" y="11437"/>
                    </a:cubicBezTo>
                    <a:lnTo>
                      <a:pt x="9042" y="10019"/>
                    </a:lnTo>
                    <a:cubicBezTo>
                      <a:pt x="9042" y="9043"/>
                      <a:pt x="8570" y="8192"/>
                      <a:pt x="7876" y="7593"/>
                    </a:cubicBezTo>
                    <a:lnTo>
                      <a:pt x="11436" y="7593"/>
                    </a:lnTo>
                    <a:cubicBezTo>
                      <a:pt x="11657" y="7593"/>
                      <a:pt x="11815" y="7436"/>
                      <a:pt x="11815" y="7247"/>
                    </a:cubicBezTo>
                    <a:lnTo>
                      <a:pt x="11815" y="5861"/>
                    </a:lnTo>
                    <a:cubicBezTo>
                      <a:pt x="11846" y="4600"/>
                      <a:pt x="11027" y="3466"/>
                      <a:pt x="9861" y="2994"/>
                    </a:cubicBezTo>
                    <a:cubicBezTo>
                      <a:pt x="10239" y="2679"/>
                      <a:pt x="10428" y="2206"/>
                      <a:pt x="10428" y="1734"/>
                    </a:cubicBezTo>
                    <a:cubicBezTo>
                      <a:pt x="10428" y="788"/>
                      <a:pt x="9641" y="1"/>
                      <a:pt x="8696" y="1"/>
                    </a:cubicBezTo>
                    <a:cubicBezTo>
                      <a:pt x="7750" y="1"/>
                      <a:pt x="6963" y="788"/>
                      <a:pt x="6963" y="1734"/>
                    </a:cubicBezTo>
                    <a:cubicBezTo>
                      <a:pt x="6963" y="2238"/>
                      <a:pt x="7152" y="2679"/>
                      <a:pt x="7498" y="2994"/>
                    </a:cubicBezTo>
                    <a:cubicBezTo>
                      <a:pt x="6931" y="3214"/>
                      <a:pt x="6396" y="3624"/>
                      <a:pt x="6049" y="4159"/>
                    </a:cubicBezTo>
                    <a:lnTo>
                      <a:pt x="5734" y="4159"/>
                    </a:lnTo>
                    <a:cubicBezTo>
                      <a:pt x="5388" y="3655"/>
                      <a:pt x="4883" y="3214"/>
                      <a:pt x="4285" y="2994"/>
                    </a:cubicBezTo>
                    <a:cubicBezTo>
                      <a:pt x="4631" y="2679"/>
                      <a:pt x="4820" y="2238"/>
                      <a:pt x="4820" y="1734"/>
                    </a:cubicBezTo>
                    <a:cubicBezTo>
                      <a:pt x="4820" y="788"/>
                      <a:pt x="4033" y="1"/>
                      <a:pt x="30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214;p18">
                <a:extLst>
                  <a:ext uri="{FF2B5EF4-FFF2-40B4-BE49-F238E27FC236}">
                    <a16:creationId xmlns:a16="http://schemas.microsoft.com/office/drawing/2014/main" id="{D74D3966-3CAC-BA59-0729-1F2BE2AFB48F}"/>
                  </a:ext>
                </a:extLst>
              </p:cNvPr>
              <p:cNvSpPr/>
              <p:nvPr/>
            </p:nvSpPr>
            <p:spPr>
              <a:xfrm>
                <a:off x="3825750" y="2075775"/>
                <a:ext cx="354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94" extrusionOk="0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cubicBezTo>
                      <a:pt x="0" y="536"/>
                      <a:pt x="158" y="694"/>
                      <a:pt x="347" y="694"/>
                    </a:cubicBezTo>
                    <a:lnTo>
                      <a:pt x="1071" y="694"/>
                    </a:lnTo>
                    <a:cubicBezTo>
                      <a:pt x="1260" y="694"/>
                      <a:pt x="1418" y="536"/>
                      <a:pt x="1418" y="347"/>
                    </a:cubicBezTo>
                    <a:cubicBezTo>
                      <a:pt x="1418" y="158"/>
                      <a:pt x="1260" y="0"/>
                      <a:pt x="10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215;p18">
                <a:extLst>
                  <a:ext uri="{FF2B5EF4-FFF2-40B4-BE49-F238E27FC236}">
                    <a16:creationId xmlns:a16="http://schemas.microsoft.com/office/drawing/2014/main" id="{C823187E-4BFB-C217-0E64-BC37AF9A9020}"/>
                  </a:ext>
                </a:extLst>
              </p:cNvPr>
              <p:cNvSpPr/>
              <p:nvPr/>
            </p:nvSpPr>
            <p:spPr>
              <a:xfrm>
                <a:off x="3633550" y="2075775"/>
                <a:ext cx="35475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1419" h="694" extrusionOk="0">
                    <a:moveTo>
                      <a:pt x="379" y="0"/>
                    </a:moveTo>
                    <a:cubicBezTo>
                      <a:pt x="158" y="0"/>
                      <a:pt x="1" y="158"/>
                      <a:pt x="1" y="347"/>
                    </a:cubicBezTo>
                    <a:cubicBezTo>
                      <a:pt x="1" y="536"/>
                      <a:pt x="158" y="694"/>
                      <a:pt x="379" y="694"/>
                    </a:cubicBezTo>
                    <a:lnTo>
                      <a:pt x="1072" y="694"/>
                    </a:lnTo>
                    <a:cubicBezTo>
                      <a:pt x="1261" y="694"/>
                      <a:pt x="1419" y="536"/>
                      <a:pt x="1419" y="347"/>
                    </a:cubicBezTo>
                    <a:cubicBezTo>
                      <a:pt x="1419" y="158"/>
                      <a:pt x="1261" y="0"/>
                      <a:pt x="10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4" name="Agrupar 113">
            <a:extLst>
              <a:ext uri="{FF2B5EF4-FFF2-40B4-BE49-F238E27FC236}">
                <a16:creationId xmlns:a16="http://schemas.microsoft.com/office/drawing/2014/main" id="{A133D1C7-F08B-016E-DB5E-E81AA29DFA64}"/>
              </a:ext>
            </a:extLst>
          </p:cNvPr>
          <p:cNvGrpSpPr/>
          <p:nvPr/>
        </p:nvGrpSpPr>
        <p:grpSpPr>
          <a:xfrm>
            <a:off x="162256" y="3930121"/>
            <a:ext cx="2224009" cy="726301"/>
            <a:chOff x="-39746" y="3457489"/>
            <a:chExt cx="2586242" cy="764241"/>
          </a:xfrm>
        </p:grpSpPr>
        <p:sp>
          <p:nvSpPr>
            <p:cNvPr id="102" name="Google Shape;216;p18">
              <a:extLst>
                <a:ext uri="{FF2B5EF4-FFF2-40B4-BE49-F238E27FC236}">
                  <a16:creationId xmlns:a16="http://schemas.microsoft.com/office/drawing/2014/main" id="{4542F496-621D-2C0F-4DDE-0F99A88C902C}"/>
                </a:ext>
              </a:extLst>
            </p:cNvPr>
            <p:cNvSpPr/>
            <p:nvPr/>
          </p:nvSpPr>
          <p:spPr>
            <a:xfrm>
              <a:off x="-39746" y="3457489"/>
              <a:ext cx="2586242" cy="764241"/>
            </a:xfrm>
            <a:custGeom>
              <a:avLst/>
              <a:gdLst/>
              <a:ahLst/>
              <a:cxnLst/>
              <a:rect l="l" t="t" r="r" b="b"/>
              <a:pathLst>
                <a:path w="123576" h="36517" extrusionOk="0">
                  <a:moveTo>
                    <a:pt x="17657" y="0"/>
                  </a:moveTo>
                  <a:cubicBezTo>
                    <a:pt x="7906" y="0"/>
                    <a:pt x="0" y="7906"/>
                    <a:pt x="0" y="17657"/>
                  </a:cubicBezTo>
                  <a:lnTo>
                    <a:pt x="0" y="18848"/>
                  </a:lnTo>
                  <a:cubicBezTo>
                    <a:pt x="0" y="28611"/>
                    <a:pt x="7906" y="36517"/>
                    <a:pt x="17657" y="36517"/>
                  </a:cubicBezTo>
                  <a:lnTo>
                    <a:pt x="105918" y="36517"/>
                  </a:lnTo>
                  <a:cubicBezTo>
                    <a:pt x="115669" y="36517"/>
                    <a:pt x="123575" y="28611"/>
                    <a:pt x="123575" y="18848"/>
                  </a:cubicBezTo>
                  <a:lnTo>
                    <a:pt x="123575" y="17657"/>
                  </a:lnTo>
                  <a:cubicBezTo>
                    <a:pt x="123575" y="7906"/>
                    <a:pt x="115669" y="0"/>
                    <a:pt x="10591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219;p18">
              <a:extLst>
                <a:ext uri="{FF2B5EF4-FFF2-40B4-BE49-F238E27FC236}">
                  <a16:creationId xmlns:a16="http://schemas.microsoft.com/office/drawing/2014/main" id="{9F6E20C2-0DC3-1F4D-C46C-D8550A8EEC08}"/>
                </a:ext>
              </a:extLst>
            </p:cNvPr>
            <p:cNvSpPr/>
            <p:nvPr/>
          </p:nvSpPr>
          <p:spPr>
            <a:xfrm>
              <a:off x="855" y="3519040"/>
              <a:ext cx="641161" cy="641140"/>
            </a:xfrm>
            <a:custGeom>
              <a:avLst/>
              <a:gdLst/>
              <a:ahLst/>
              <a:cxnLst/>
              <a:rect l="l" t="t" r="r" b="b"/>
              <a:pathLst>
                <a:path w="30636" h="30635" extrusionOk="0">
                  <a:moveTo>
                    <a:pt x="15312" y="0"/>
                  </a:moveTo>
                  <a:cubicBezTo>
                    <a:pt x="6859" y="0"/>
                    <a:pt x="1" y="6858"/>
                    <a:pt x="1" y="15311"/>
                  </a:cubicBezTo>
                  <a:cubicBezTo>
                    <a:pt x="1" y="23777"/>
                    <a:pt x="6859" y="30635"/>
                    <a:pt x="15312" y="30635"/>
                  </a:cubicBezTo>
                  <a:cubicBezTo>
                    <a:pt x="23778" y="30635"/>
                    <a:pt x="30636" y="23777"/>
                    <a:pt x="30636" y="15311"/>
                  </a:cubicBezTo>
                  <a:cubicBezTo>
                    <a:pt x="30636" y="6858"/>
                    <a:pt x="23778" y="0"/>
                    <a:pt x="153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/>
            </a:p>
          </p:txBody>
        </p:sp>
        <p:sp>
          <p:nvSpPr>
            <p:cNvPr id="104" name="Google Shape;225;p18">
              <a:extLst>
                <a:ext uri="{FF2B5EF4-FFF2-40B4-BE49-F238E27FC236}">
                  <a16:creationId xmlns:a16="http://schemas.microsoft.com/office/drawing/2014/main" id="{A14D3700-30CC-8A9B-AA22-0986EB31B550}"/>
                </a:ext>
              </a:extLst>
            </p:cNvPr>
            <p:cNvSpPr txBox="1"/>
            <p:nvPr/>
          </p:nvSpPr>
          <p:spPr>
            <a:xfrm>
              <a:off x="827698" y="3686358"/>
              <a:ext cx="1527300" cy="30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dirty="0" err="1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Migração</a:t>
              </a:r>
              <a:endParaRPr sz="1600" dirty="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grpSp>
          <p:nvGrpSpPr>
            <p:cNvPr id="105" name="Google Shape;227;p18">
              <a:extLst>
                <a:ext uri="{FF2B5EF4-FFF2-40B4-BE49-F238E27FC236}">
                  <a16:creationId xmlns:a16="http://schemas.microsoft.com/office/drawing/2014/main" id="{B52149CF-2A44-6D67-D6F8-5217640C85F0}"/>
                </a:ext>
              </a:extLst>
            </p:cNvPr>
            <p:cNvGrpSpPr/>
            <p:nvPr/>
          </p:nvGrpSpPr>
          <p:grpSpPr>
            <a:xfrm>
              <a:off x="140179" y="3668828"/>
              <a:ext cx="348139" cy="345341"/>
              <a:chOff x="2139425" y="2682250"/>
              <a:chExt cx="298550" cy="296150"/>
            </a:xfrm>
          </p:grpSpPr>
          <p:sp>
            <p:nvSpPr>
              <p:cNvPr id="106" name="Google Shape;228;p18">
                <a:extLst>
                  <a:ext uri="{FF2B5EF4-FFF2-40B4-BE49-F238E27FC236}">
                    <a16:creationId xmlns:a16="http://schemas.microsoft.com/office/drawing/2014/main" id="{A9418697-A144-E392-C158-38E3E11343B6}"/>
                  </a:ext>
                </a:extLst>
              </p:cNvPr>
              <p:cNvSpPr/>
              <p:nvPr/>
            </p:nvSpPr>
            <p:spPr>
              <a:xfrm>
                <a:off x="2139425" y="2787000"/>
                <a:ext cx="159125" cy="191400"/>
              </a:xfrm>
              <a:custGeom>
                <a:avLst/>
                <a:gdLst/>
                <a:ahLst/>
                <a:cxnLst/>
                <a:rect l="l" t="t" r="r" b="b"/>
                <a:pathLst>
                  <a:path w="6365" h="7656" extrusionOk="0">
                    <a:moveTo>
                      <a:pt x="3214" y="630"/>
                    </a:moveTo>
                    <a:cubicBezTo>
                      <a:pt x="3813" y="630"/>
                      <a:pt x="4286" y="1103"/>
                      <a:pt x="4286" y="1670"/>
                    </a:cubicBezTo>
                    <a:cubicBezTo>
                      <a:pt x="4286" y="2206"/>
                      <a:pt x="3813" y="2678"/>
                      <a:pt x="3214" y="2678"/>
                    </a:cubicBezTo>
                    <a:cubicBezTo>
                      <a:pt x="2647" y="2678"/>
                      <a:pt x="2175" y="2206"/>
                      <a:pt x="2175" y="1670"/>
                    </a:cubicBezTo>
                    <a:cubicBezTo>
                      <a:pt x="2175" y="1166"/>
                      <a:pt x="2647" y="630"/>
                      <a:pt x="3214" y="630"/>
                    </a:cubicBezTo>
                    <a:close/>
                    <a:moveTo>
                      <a:pt x="3183" y="3403"/>
                    </a:moveTo>
                    <a:cubicBezTo>
                      <a:pt x="4538" y="3403"/>
                      <a:pt x="5609" y="4506"/>
                      <a:pt x="5609" y="5829"/>
                    </a:cubicBezTo>
                    <a:lnTo>
                      <a:pt x="5609" y="6931"/>
                    </a:lnTo>
                    <a:lnTo>
                      <a:pt x="757" y="6931"/>
                    </a:lnTo>
                    <a:lnTo>
                      <a:pt x="757" y="5829"/>
                    </a:lnTo>
                    <a:cubicBezTo>
                      <a:pt x="757" y="4506"/>
                      <a:pt x="1860" y="3403"/>
                      <a:pt x="3183" y="3403"/>
                    </a:cubicBezTo>
                    <a:close/>
                    <a:moveTo>
                      <a:pt x="3183" y="0"/>
                    </a:moveTo>
                    <a:cubicBezTo>
                      <a:pt x="2238" y="0"/>
                      <a:pt x="1419" y="788"/>
                      <a:pt x="1419" y="1733"/>
                    </a:cubicBezTo>
                    <a:cubicBezTo>
                      <a:pt x="1419" y="2206"/>
                      <a:pt x="1608" y="2678"/>
                      <a:pt x="1954" y="2993"/>
                    </a:cubicBezTo>
                    <a:cubicBezTo>
                      <a:pt x="820" y="3466"/>
                      <a:pt x="1" y="4569"/>
                      <a:pt x="1" y="5892"/>
                    </a:cubicBezTo>
                    <a:lnTo>
                      <a:pt x="1" y="7309"/>
                    </a:lnTo>
                    <a:cubicBezTo>
                      <a:pt x="64" y="7498"/>
                      <a:pt x="222" y="7656"/>
                      <a:pt x="442" y="7656"/>
                    </a:cubicBezTo>
                    <a:lnTo>
                      <a:pt x="6018" y="7656"/>
                    </a:lnTo>
                    <a:cubicBezTo>
                      <a:pt x="6207" y="7656"/>
                      <a:pt x="6365" y="7498"/>
                      <a:pt x="6365" y="7309"/>
                    </a:cubicBezTo>
                    <a:lnTo>
                      <a:pt x="6365" y="5892"/>
                    </a:lnTo>
                    <a:cubicBezTo>
                      <a:pt x="6365" y="4569"/>
                      <a:pt x="5546" y="3466"/>
                      <a:pt x="4412" y="2993"/>
                    </a:cubicBezTo>
                    <a:cubicBezTo>
                      <a:pt x="4758" y="2647"/>
                      <a:pt x="4947" y="2206"/>
                      <a:pt x="4947" y="1733"/>
                    </a:cubicBezTo>
                    <a:cubicBezTo>
                      <a:pt x="4947" y="788"/>
                      <a:pt x="4160" y="0"/>
                      <a:pt x="31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229;p18">
                <a:extLst>
                  <a:ext uri="{FF2B5EF4-FFF2-40B4-BE49-F238E27FC236}">
                    <a16:creationId xmlns:a16="http://schemas.microsoft.com/office/drawing/2014/main" id="{9568552D-3B40-867A-DDD4-C692E8FFCC47}"/>
                  </a:ext>
                </a:extLst>
              </p:cNvPr>
              <p:cNvSpPr/>
              <p:nvPr/>
            </p:nvSpPr>
            <p:spPr>
              <a:xfrm>
                <a:off x="2280425" y="2682250"/>
                <a:ext cx="15755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6302" h="6239" extrusionOk="0">
                    <a:moveTo>
                      <a:pt x="3182" y="662"/>
                    </a:moveTo>
                    <a:cubicBezTo>
                      <a:pt x="4506" y="662"/>
                      <a:pt x="5608" y="1764"/>
                      <a:pt x="5608" y="3088"/>
                    </a:cubicBezTo>
                    <a:cubicBezTo>
                      <a:pt x="5577" y="4442"/>
                      <a:pt x="4474" y="5545"/>
                      <a:pt x="3151" y="5545"/>
                    </a:cubicBezTo>
                    <a:cubicBezTo>
                      <a:pt x="2710" y="5545"/>
                      <a:pt x="2300" y="5419"/>
                      <a:pt x="1954" y="5230"/>
                    </a:cubicBezTo>
                    <a:cubicBezTo>
                      <a:pt x="1891" y="5198"/>
                      <a:pt x="1796" y="5198"/>
                      <a:pt x="1733" y="5198"/>
                    </a:cubicBezTo>
                    <a:lnTo>
                      <a:pt x="946" y="5388"/>
                    </a:lnTo>
                    <a:lnTo>
                      <a:pt x="1166" y="4663"/>
                    </a:lnTo>
                    <a:cubicBezTo>
                      <a:pt x="1198" y="4568"/>
                      <a:pt x="1166" y="4474"/>
                      <a:pt x="1135" y="4411"/>
                    </a:cubicBezTo>
                    <a:cubicBezTo>
                      <a:pt x="883" y="4001"/>
                      <a:pt x="725" y="3560"/>
                      <a:pt x="725" y="3088"/>
                    </a:cubicBezTo>
                    <a:cubicBezTo>
                      <a:pt x="725" y="1764"/>
                      <a:pt x="1828" y="662"/>
                      <a:pt x="3182" y="662"/>
                    </a:cubicBezTo>
                    <a:close/>
                    <a:moveTo>
                      <a:pt x="3151" y="0"/>
                    </a:moveTo>
                    <a:cubicBezTo>
                      <a:pt x="1418" y="0"/>
                      <a:pt x="32" y="1418"/>
                      <a:pt x="32" y="3088"/>
                    </a:cubicBezTo>
                    <a:cubicBezTo>
                      <a:pt x="32" y="3655"/>
                      <a:pt x="158" y="4159"/>
                      <a:pt x="410" y="4631"/>
                    </a:cubicBezTo>
                    <a:lnTo>
                      <a:pt x="32" y="5766"/>
                    </a:lnTo>
                    <a:cubicBezTo>
                      <a:pt x="0" y="5892"/>
                      <a:pt x="32" y="6018"/>
                      <a:pt x="95" y="6144"/>
                    </a:cubicBezTo>
                    <a:cubicBezTo>
                      <a:pt x="189" y="6207"/>
                      <a:pt x="315" y="6238"/>
                      <a:pt x="473" y="6238"/>
                    </a:cubicBezTo>
                    <a:lnTo>
                      <a:pt x="1765" y="5923"/>
                    </a:lnTo>
                    <a:cubicBezTo>
                      <a:pt x="2206" y="6175"/>
                      <a:pt x="2678" y="6238"/>
                      <a:pt x="3182" y="6238"/>
                    </a:cubicBezTo>
                    <a:cubicBezTo>
                      <a:pt x="4915" y="6238"/>
                      <a:pt x="6301" y="4820"/>
                      <a:pt x="6301" y="3151"/>
                    </a:cubicBezTo>
                    <a:cubicBezTo>
                      <a:pt x="6238" y="1418"/>
                      <a:pt x="4884" y="0"/>
                      <a:pt x="31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230;p18">
                <a:extLst>
                  <a:ext uri="{FF2B5EF4-FFF2-40B4-BE49-F238E27FC236}">
                    <a16:creationId xmlns:a16="http://schemas.microsoft.com/office/drawing/2014/main" id="{937A5361-D9B5-8702-DC2E-DA006C3647AC}"/>
                  </a:ext>
                </a:extLst>
              </p:cNvPr>
              <p:cNvSpPr/>
              <p:nvPr/>
            </p:nvSpPr>
            <p:spPr>
              <a:xfrm>
                <a:off x="2349725" y="2725550"/>
                <a:ext cx="18150" cy="17375"/>
              </a:xfrm>
              <a:custGeom>
                <a:avLst/>
                <a:gdLst/>
                <a:ahLst/>
                <a:cxnLst/>
                <a:rect l="l" t="t" r="r" b="b"/>
                <a:pathLst>
                  <a:path w="726" h="695" extrusionOk="0">
                    <a:moveTo>
                      <a:pt x="379" y="1"/>
                    </a:moveTo>
                    <a:cubicBezTo>
                      <a:pt x="158" y="1"/>
                      <a:pt x="1" y="158"/>
                      <a:pt x="1" y="348"/>
                    </a:cubicBezTo>
                    <a:cubicBezTo>
                      <a:pt x="1" y="537"/>
                      <a:pt x="158" y="694"/>
                      <a:pt x="379" y="694"/>
                    </a:cubicBezTo>
                    <a:cubicBezTo>
                      <a:pt x="568" y="694"/>
                      <a:pt x="725" y="537"/>
                      <a:pt x="725" y="348"/>
                    </a:cubicBezTo>
                    <a:cubicBezTo>
                      <a:pt x="725" y="158"/>
                      <a:pt x="568" y="1"/>
                      <a:pt x="3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231;p18">
                <a:extLst>
                  <a:ext uri="{FF2B5EF4-FFF2-40B4-BE49-F238E27FC236}">
                    <a16:creationId xmlns:a16="http://schemas.microsoft.com/office/drawing/2014/main" id="{3FBA7AC5-837B-4780-F60B-F0E485DF5963}"/>
                  </a:ext>
                </a:extLst>
              </p:cNvPr>
              <p:cNvSpPr/>
              <p:nvPr/>
            </p:nvSpPr>
            <p:spPr>
              <a:xfrm>
                <a:off x="2349725" y="2751550"/>
                <a:ext cx="18150" cy="52800"/>
              </a:xfrm>
              <a:custGeom>
                <a:avLst/>
                <a:gdLst/>
                <a:ahLst/>
                <a:cxnLst/>
                <a:rect l="l" t="t" r="r" b="b"/>
                <a:pathLst>
                  <a:path w="726" h="2112" extrusionOk="0">
                    <a:moveTo>
                      <a:pt x="379" y="1"/>
                    </a:moveTo>
                    <a:cubicBezTo>
                      <a:pt x="158" y="1"/>
                      <a:pt x="1" y="158"/>
                      <a:pt x="1" y="379"/>
                    </a:cubicBezTo>
                    <a:lnTo>
                      <a:pt x="1" y="1733"/>
                    </a:lnTo>
                    <a:cubicBezTo>
                      <a:pt x="1" y="1954"/>
                      <a:pt x="158" y="2111"/>
                      <a:pt x="379" y="2111"/>
                    </a:cubicBezTo>
                    <a:cubicBezTo>
                      <a:pt x="568" y="2111"/>
                      <a:pt x="725" y="1954"/>
                      <a:pt x="725" y="1733"/>
                    </a:cubicBezTo>
                    <a:lnTo>
                      <a:pt x="725" y="379"/>
                    </a:lnTo>
                    <a:cubicBezTo>
                      <a:pt x="725" y="158"/>
                      <a:pt x="568" y="1"/>
                      <a:pt x="3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85735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34">
          <a:extLst>
            <a:ext uri="{FF2B5EF4-FFF2-40B4-BE49-F238E27FC236}">
              <a16:creationId xmlns:a16="http://schemas.microsoft.com/office/drawing/2014/main" id="{2C6FB7DD-A244-A5EF-6CCD-61454C3AA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2E8EFD4E-42B2-E9AF-B9A7-E32EB9AABD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240" b="29908"/>
          <a:stretch/>
        </p:blipFill>
        <p:spPr>
          <a:xfrm>
            <a:off x="0" y="-1"/>
            <a:ext cx="1087484" cy="563881"/>
          </a:xfrm>
          <a:prstGeom prst="rect">
            <a:avLst/>
          </a:prstGeom>
        </p:spPr>
      </p:pic>
      <p:sp>
        <p:nvSpPr>
          <p:cNvPr id="5" name="Google Shape;82;p16">
            <a:extLst>
              <a:ext uri="{FF2B5EF4-FFF2-40B4-BE49-F238E27FC236}">
                <a16:creationId xmlns:a16="http://schemas.microsoft.com/office/drawing/2014/main" id="{C539DF9B-6B4D-3AC1-068F-26753DEEA346}"/>
              </a:ext>
            </a:extLst>
          </p:cNvPr>
          <p:cNvSpPr/>
          <p:nvPr/>
        </p:nvSpPr>
        <p:spPr>
          <a:xfrm>
            <a:off x="0" y="4918560"/>
            <a:ext cx="1213474" cy="2249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grpSp>
        <p:nvGrpSpPr>
          <p:cNvPr id="6" name="Google Shape;99;p16">
            <a:extLst>
              <a:ext uri="{FF2B5EF4-FFF2-40B4-BE49-F238E27FC236}">
                <a16:creationId xmlns:a16="http://schemas.microsoft.com/office/drawing/2014/main" id="{2F65CF2B-8110-9510-5E3B-F1D8B80DFBCF}"/>
              </a:ext>
            </a:extLst>
          </p:cNvPr>
          <p:cNvGrpSpPr/>
          <p:nvPr/>
        </p:nvGrpSpPr>
        <p:grpSpPr>
          <a:xfrm>
            <a:off x="180545" y="4997460"/>
            <a:ext cx="852384" cy="66900"/>
            <a:chOff x="751300" y="2219150"/>
            <a:chExt cx="1388500" cy="141600"/>
          </a:xfrm>
        </p:grpSpPr>
        <p:sp>
          <p:nvSpPr>
            <p:cNvPr id="7" name="Google Shape;100;p16">
              <a:extLst>
                <a:ext uri="{FF2B5EF4-FFF2-40B4-BE49-F238E27FC236}">
                  <a16:creationId xmlns:a16="http://schemas.microsoft.com/office/drawing/2014/main" id="{252E52B4-16AC-65FF-B990-FC8D1311AEA0}"/>
                </a:ext>
              </a:extLst>
            </p:cNvPr>
            <p:cNvSpPr/>
            <p:nvPr/>
          </p:nvSpPr>
          <p:spPr>
            <a:xfrm>
              <a:off x="751300" y="2219150"/>
              <a:ext cx="141600" cy="1416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01;p16">
              <a:extLst>
                <a:ext uri="{FF2B5EF4-FFF2-40B4-BE49-F238E27FC236}">
                  <a16:creationId xmlns:a16="http://schemas.microsoft.com/office/drawing/2014/main" id="{FF69B8E6-D141-58C4-F920-F4791F3640E5}"/>
                </a:ext>
              </a:extLst>
            </p:cNvPr>
            <p:cNvSpPr/>
            <p:nvPr/>
          </p:nvSpPr>
          <p:spPr>
            <a:xfrm>
              <a:off x="1063025" y="2219150"/>
              <a:ext cx="141600" cy="1416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" name="Google Shape;102;p16">
              <a:extLst>
                <a:ext uri="{FF2B5EF4-FFF2-40B4-BE49-F238E27FC236}">
                  <a16:creationId xmlns:a16="http://schemas.microsoft.com/office/drawing/2014/main" id="{6497760F-7608-F8DB-DB92-8CBA87DAC169}"/>
                </a:ext>
              </a:extLst>
            </p:cNvPr>
            <p:cNvSpPr/>
            <p:nvPr/>
          </p:nvSpPr>
          <p:spPr>
            <a:xfrm>
              <a:off x="1374750" y="2219150"/>
              <a:ext cx="141600" cy="141600"/>
            </a:xfrm>
            <a:prstGeom prst="ellipse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03;p16">
              <a:extLst>
                <a:ext uri="{FF2B5EF4-FFF2-40B4-BE49-F238E27FC236}">
                  <a16:creationId xmlns:a16="http://schemas.microsoft.com/office/drawing/2014/main" id="{2D22B125-4D8A-CCF2-F2A2-607332E8202B}"/>
                </a:ext>
              </a:extLst>
            </p:cNvPr>
            <p:cNvSpPr/>
            <p:nvPr/>
          </p:nvSpPr>
          <p:spPr>
            <a:xfrm>
              <a:off x="1686475" y="2219150"/>
              <a:ext cx="141600" cy="141600"/>
            </a:xfrm>
            <a:prstGeom prst="ellipse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04;p16">
              <a:extLst>
                <a:ext uri="{FF2B5EF4-FFF2-40B4-BE49-F238E27FC236}">
                  <a16:creationId xmlns:a16="http://schemas.microsoft.com/office/drawing/2014/main" id="{64788661-036D-4B3B-0704-F040AEF7E546}"/>
                </a:ext>
              </a:extLst>
            </p:cNvPr>
            <p:cNvSpPr/>
            <p:nvPr/>
          </p:nvSpPr>
          <p:spPr>
            <a:xfrm>
              <a:off x="1998200" y="2219150"/>
              <a:ext cx="141600" cy="141600"/>
            </a:xfrm>
            <a:prstGeom prst="ellipse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101;p16">
            <a:extLst>
              <a:ext uri="{FF2B5EF4-FFF2-40B4-BE49-F238E27FC236}">
                <a16:creationId xmlns:a16="http://schemas.microsoft.com/office/drawing/2014/main" id="{50A787F8-DC0F-3BA6-8231-9CF2F7C516CE}"/>
              </a:ext>
            </a:extLst>
          </p:cNvPr>
          <p:cNvSpPr/>
          <p:nvPr/>
        </p:nvSpPr>
        <p:spPr>
          <a:xfrm>
            <a:off x="563274" y="4997460"/>
            <a:ext cx="86927" cy="669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00;p16">
            <a:extLst>
              <a:ext uri="{FF2B5EF4-FFF2-40B4-BE49-F238E27FC236}">
                <a16:creationId xmlns:a16="http://schemas.microsoft.com/office/drawing/2014/main" id="{91E76B64-8687-EA1F-2A12-742C75F0E3A2}"/>
              </a:ext>
            </a:extLst>
          </p:cNvPr>
          <p:cNvSpPr/>
          <p:nvPr/>
        </p:nvSpPr>
        <p:spPr>
          <a:xfrm>
            <a:off x="747928" y="4997460"/>
            <a:ext cx="86927" cy="669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01;p16">
            <a:extLst>
              <a:ext uri="{FF2B5EF4-FFF2-40B4-BE49-F238E27FC236}">
                <a16:creationId xmlns:a16="http://schemas.microsoft.com/office/drawing/2014/main" id="{CA976EFB-DD70-0D77-C3AE-8CF17DA1DEE4}"/>
              </a:ext>
            </a:extLst>
          </p:cNvPr>
          <p:cNvSpPr/>
          <p:nvPr/>
        </p:nvSpPr>
        <p:spPr>
          <a:xfrm>
            <a:off x="939292" y="4997460"/>
            <a:ext cx="86927" cy="669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78;p16">
            <a:extLst>
              <a:ext uri="{FF2B5EF4-FFF2-40B4-BE49-F238E27FC236}">
                <a16:creationId xmlns:a16="http://schemas.microsoft.com/office/drawing/2014/main" id="{410D3A99-C421-87A4-B873-269B77B9EC81}"/>
              </a:ext>
            </a:extLst>
          </p:cNvPr>
          <p:cNvSpPr txBox="1">
            <a:spLocks/>
          </p:cNvSpPr>
          <p:nvPr/>
        </p:nvSpPr>
        <p:spPr>
          <a:xfrm>
            <a:off x="312419" y="166391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dirty="0" err="1">
                <a:solidFill>
                  <a:schemeClr val="bg1"/>
                </a:solidFill>
              </a:rPr>
              <a:t>Conclusão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3" name="Google Shape;911;p35">
            <a:extLst>
              <a:ext uri="{FF2B5EF4-FFF2-40B4-BE49-F238E27FC236}">
                <a16:creationId xmlns:a16="http://schemas.microsoft.com/office/drawing/2014/main" id="{838EE2C6-8524-B7FA-25CD-30861FD22722}"/>
              </a:ext>
            </a:extLst>
          </p:cNvPr>
          <p:cNvSpPr/>
          <p:nvPr/>
        </p:nvSpPr>
        <p:spPr>
          <a:xfrm>
            <a:off x="1183479" y="1505755"/>
            <a:ext cx="1294290" cy="1294306"/>
          </a:xfrm>
          <a:custGeom>
            <a:avLst/>
            <a:gdLst/>
            <a:ahLst/>
            <a:cxnLst/>
            <a:rect l="l" t="t" r="r" b="b"/>
            <a:pathLst>
              <a:path w="6405" h="6405" extrusionOk="0">
                <a:moveTo>
                  <a:pt x="3203" y="1"/>
                </a:moveTo>
                <a:cubicBezTo>
                  <a:pt x="1438" y="1"/>
                  <a:pt x="0" y="1438"/>
                  <a:pt x="0" y="3202"/>
                </a:cubicBezTo>
                <a:cubicBezTo>
                  <a:pt x="0" y="4967"/>
                  <a:pt x="1438" y="6405"/>
                  <a:pt x="3203" y="6405"/>
                </a:cubicBezTo>
                <a:cubicBezTo>
                  <a:pt x="4967" y="6405"/>
                  <a:pt x="6404" y="4967"/>
                  <a:pt x="6404" y="3202"/>
                </a:cubicBezTo>
                <a:cubicBezTo>
                  <a:pt x="6404" y="1438"/>
                  <a:pt x="4967" y="1"/>
                  <a:pt x="320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912;p35">
            <a:extLst>
              <a:ext uri="{FF2B5EF4-FFF2-40B4-BE49-F238E27FC236}">
                <a16:creationId xmlns:a16="http://schemas.microsoft.com/office/drawing/2014/main" id="{B39F7E0A-5575-5254-348B-51685F007AC3}"/>
              </a:ext>
            </a:extLst>
          </p:cNvPr>
          <p:cNvSpPr/>
          <p:nvPr/>
        </p:nvSpPr>
        <p:spPr>
          <a:xfrm>
            <a:off x="878950" y="1201224"/>
            <a:ext cx="1903142" cy="2318031"/>
          </a:xfrm>
          <a:custGeom>
            <a:avLst/>
            <a:gdLst/>
            <a:ahLst/>
            <a:cxnLst/>
            <a:rect l="l" t="t" r="r" b="b"/>
            <a:pathLst>
              <a:path w="9418" h="11471" extrusionOk="0">
                <a:moveTo>
                  <a:pt x="4710" y="1"/>
                </a:moveTo>
                <a:cubicBezTo>
                  <a:pt x="2112" y="1"/>
                  <a:pt x="0" y="2112"/>
                  <a:pt x="0" y="4709"/>
                </a:cubicBezTo>
                <a:cubicBezTo>
                  <a:pt x="0" y="4819"/>
                  <a:pt x="80" y="4898"/>
                  <a:pt x="189" y="4898"/>
                </a:cubicBezTo>
                <a:cubicBezTo>
                  <a:pt x="288" y="4898"/>
                  <a:pt x="377" y="4819"/>
                  <a:pt x="377" y="4709"/>
                </a:cubicBezTo>
                <a:cubicBezTo>
                  <a:pt x="377" y="2321"/>
                  <a:pt x="2320" y="378"/>
                  <a:pt x="4710" y="378"/>
                </a:cubicBezTo>
                <a:cubicBezTo>
                  <a:pt x="7098" y="378"/>
                  <a:pt x="9041" y="2321"/>
                  <a:pt x="9041" y="4709"/>
                </a:cubicBezTo>
                <a:cubicBezTo>
                  <a:pt x="9041" y="7099"/>
                  <a:pt x="7098" y="9042"/>
                  <a:pt x="4710" y="9042"/>
                </a:cubicBezTo>
                <a:cubicBezTo>
                  <a:pt x="4600" y="9042"/>
                  <a:pt x="4521" y="9121"/>
                  <a:pt x="4521" y="9230"/>
                </a:cubicBezTo>
                <a:lnTo>
                  <a:pt x="4521" y="10816"/>
                </a:lnTo>
                <a:lnTo>
                  <a:pt x="3758" y="10062"/>
                </a:lnTo>
                <a:cubicBezTo>
                  <a:pt x="3723" y="10023"/>
                  <a:pt x="3676" y="10003"/>
                  <a:pt x="3627" y="10003"/>
                </a:cubicBezTo>
                <a:cubicBezTo>
                  <a:pt x="3579" y="10003"/>
                  <a:pt x="3530" y="10023"/>
                  <a:pt x="3490" y="10062"/>
                </a:cubicBezTo>
                <a:cubicBezTo>
                  <a:pt x="3421" y="10132"/>
                  <a:pt x="3421" y="10251"/>
                  <a:pt x="3490" y="10330"/>
                </a:cubicBezTo>
                <a:lnTo>
                  <a:pt x="4580" y="11421"/>
                </a:lnTo>
                <a:cubicBezTo>
                  <a:pt x="4620" y="11450"/>
                  <a:pt x="4670" y="11470"/>
                  <a:pt x="4710" y="11470"/>
                </a:cubicBezTo>
                <a:cubicBezTo>
                  <a:pt x="4759" y="11470"/>
                  <a:pt x="4809" y="11450"/>
                  <a:pt x="4848" y="11421"/>
                </a:cubicBezTo>
                <a:lnTo>
                  <a:pt x="5939" y="10330"/>
                </a:lnTo>
                <a:cubicBezTo>
                  <a:pt x="6008" y="10251"/>
                  <a:pt x="6008" y="10132"/>
                  <a:pt x="5939" y="10062"/>
                </a:cubicBezTo>
                <a:cubicBezTo>
                  <a:pt x="5899" y="10023"/>
                  <a:pt x="5850" y="10003"/>
                  <a:pt x="5801" y="10003"/>
                </a:cubicBezTo>
                <a:cubicBezTo>
                  <a:pt x="5753" y="10003"/>
                  <a:pt x="5706" y="10023"/>
                  <a:pt x="5671" y="10062"/>
                </a:cubicBezTo>
                <a:lnTo>
                  <a:pt x="4898" y="10826"/>
                </a:lnTo>
                <a:lnTo>
                  <a:pt x="4898" y="9418"/>
                </a:lnTo>
                <a:cubicBezTo>
                  <a:pt x="7406" y="9319"/>
                  <a:pt x="9418" y="7247"/>
                  <a:pt x="9418" y="4709"/>
                </a:cubicBezTo>
                <a:cubicBezTo>
                  <a:pt x="9418" y="4253"/>
                  <a:pt x="9349" y="3808"/>
                  <a:pt x="9230" y="3381"/>
                </a:cubicBezTo>
                <a:cubicBezTo>
                  <a:pt x="8655" y="1428"/>
                  <a:pt x="6851" y="1"/>
                  <a:pt x="471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913;p35">
            <a:extLst>
              <a:ext uri="{FF2B5EF4-FFF2-40B4-BE49-F238E27FC236}">
                <a16:creationId xmlns:a16="http://schemas.microsoft.com/office/drawing/2014/main" id="{F04741A2-50F7-4A6A-F32A-D6BFD908D875}"/>
              </a:ext>
            </a:extLst>
          </p:cNvPr>
          <p:cNvSpPr txBox="1"/>
          <p:nvPr/>
        </p:nvSpPr>
        <p:spPr>
          <a:xfrm>
            <a:off x="1343475" y="2124197"/>
            <a:ext cx="968700" cy="2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 dirty="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3000" b="1" dirty="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6" name="Google Shape;914;p35">
            <a:extLst>
              <a:ext uri="{FF2B5EF4-FFF2-40B4-BE49-F238E27FC236}">
                <a16:creationId xmlns:a16="http://schemas.microsoft.com/office/drawing/2014/main" id="{88467295-D198-7323-454E-56DA3029F932}"/>
              </a:ext>
            </a:extLst>
          </p:cNvPr>
          <p:cNvSpPr txBox="1"/>
          <p:nvPr/>
        </p:nvSpPr>
        <p:spPr>
          <a:xfrm>
            <a:off x="1343400" y="1812300"/>
            <a:ext cx="968700" cy="2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Step</a:t>
            </a:r>
            <a:endParaRPr sz="1800" b="1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7" name="Google Shape;915;p35">
            <a:extLst>
              <a:ext uri="{FF2B5EF4-FFF2-40B4-BE49-F238E27FC236}">
                <a16:creationId xmlns:a16="http://schemas.microsoft.com/office/drawing/2014/main" id="{2C604919-B65C-A4DC-36CF-2C9E62E5D50B}"/>
              </a:ext>
            </a:extLst>
          </p:cNvPr>
          <p:cNvSpPr txBox="1"/>
          <p:nvPr/>
        </p:nvSpPr>
        <p:spPr>
          <a:xfrm>
            <a:off x="921400" y="3891125"/>
            <a:ext cx="1812300" cy="8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Revisar</a:t>
            </a:r>
            <a:r>
              <a:rPr lang="en-GB" sz="12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os</a:t>
            </a:r>
            <a:r>
              <a:rPr lang="en-GB" sz="12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canais</a:t>
            </a:r>
            <a:r>
              <a:rPr lang="en-GB" sz="12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adotados</a:t>
            </a:r>
            <a:r>
              <a:rPr lang="en-GB" sz="12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a </a:t>
            </a:r>
            <a:r>
              <a:rPr lang="en-GB" sz="12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partir</a:t>
            </a:r>
            <a:r>
              <a:rPr lang="en-GB" sz="12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-GB" sz="12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Junho</a:t>
            </a:r>
            <a:r>
              <a:rPr lang="en-GB" sz="12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200" dirty="0">
              <a:solidFill>
                <a:schemeClr val="bg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" name="Google Shape;916;p35">
            <a:extLst>
              <a:ext uri="{FF2B5EF4-FFF2-40B4-BE49-F238E27FC236}">
                <a16:creationId xmlns:a16="http://schemas.microsoft.com/office/drawing/2014/main" id="{D52491E4-A573-4B74-2042-EC0B197C75A3}"/>
              </a:ext>
            </a:extLst>
          </p:cNvPr>
          <p:cNvSpPr/>
          <p:nvPr/>
        </p:nvSpPr>
        <p:spPr>
          <a:xfrm>
            <a:off x="2743910" y="1201224"/>
            <a:ext cx="1865152" cy="2318031"/>
          </a:xfrm>
          <a:custGeom>
            <a:avLst/>
            <a:gdLst/>
            <a:ahLst/>
            <a:cxnLst/>
            <a:rect l="l" t="t" r="r" b="b"/>
            <a:pathLst>
              <a:path w="9230" h="11471" extrusionOk="0">
                <a:moveTo>
                  <a:pt x="4521" y="1"/>
                </a:moveTo>
                <a:cubicBezTo>
                  <a:pt x="2380" y="1"/>
                  <a:pt x="576" y="1428"/>
                  <a:pt x="1" y="3381"/>
                </a:cubicBezTo>
                <a:cubicBezTo>
                  <a:pt x="120" y="3808"/>
                  <a:pt x="189" y="4253"/>
                  <a:pt x="189" y="4709"/>
                </a:cubicBezTo>
                <a:cubicBezTo>
                  <a:pt x="189" y="2321"/>
                  <a:pt x="2132" y="378"/>
                  <a:pt x="4521" y="378"/>
                </a:cubicBezTo>
                <a:cubicBezTo>
                  <a:pt x="6910" y="378"/>
                  <a:pt x="8853" y="2321"/>
                  <a:pt x="8853" y="4709"/>
                </a:cubicBezTo>
                <a:cubicBezTo>
                  <a:pt x="8853" y="7099"/>
                  <a:pt x="6910" y="9042"/>
                  <a:pt x="4521" y="9042"/>
                </a:cubicBezTo>
                <a:cubicBezTo>
                  <a:pt x="4412" y="9042"/>
                  <a:pt x="4333" y="9121"/>
                  <a:pt x="4333" y="9230"/>
                </a:cubicBezTo>
                <a:lnTo>
                  <a:pt x="4333" y="10816"/>
                </a:lnTo>
                <a:lnTo>
                  <a:pt x="3570" y="10062"/>
                </a:lnTo>
                <a:cubicBezTo>
                  <a:pt x="3535" y="10023"/>
                  <a:pt x="3488" y="10003"/>
                  <a:pt x="3439" y="10003"/>
                </a:cubicBezTo>
                <a:cubicBezTo>
                  <a:pt x="3391" y="10003"/>
                  <a:pt x="3341" y="10023"/>
                  <a:pt x="3302" y="10062"/>
                </a:cubicBezTo>
                <a:cubicBezTo>
                  <a:pt x="3233" y="10132"/>
                  <a:pt x="3233" y="10251"/>
                  <a:pt x="3302" y="10330"/>
                </a:cubicBezTo>
                <a:lnTo>
                  <a:pt x="4392" y="11421"/>
                </a:lnTo>
                <a:cubicBezTo>
                  <a:pt x="4432" y="11450"/>
                  <a:pt x="4482" y="11470"/>
                  <a:pt x="4531" y="11470"/>
                </a:cubicBezTo>
                <a:cubicBezTo>
                  <a:pt x="4581" y="11470"/>
                  <a:pt x="4630" y="11450"/>
                  <a:pt x="4660" y="11421"/>
                </a:cubicBezTo>
                <a:lnTo>
                  <a:pt x="5751" y="10330"/>
                </a:lnTo>
                <a:cubicBezTo>
                  <a:pt x="5820" y="10251"/>
                  <a:pt x="5820" y="10132"/>
                  <a:pt x="5751" y="10062"/>
                </a:cubicBezTo>
                <a:cubicBezTo>
                  <a:pt x="5711" y="10023"/>
                  <a:pt x="5661" y="10003"/>
                  <a:pt x="5613" y="10003"/>
                </a:cubicBezTo>
                <a:cubicBezTo>
                  <a:pt x="5565" y="10003"/>
                  <a:pt x="5517" y="10023"/>
                  <a:pt x="5483" y="10062"/>
                </a:cubicBezTo>
                <a:lnTo>
                  <a:pt x="4709" y="10836"/>
                </a:lnTo>
                <a:lnTo>
                  <a:pt x="4709" y="9418"/>
                </a:lnTo>
                <a:cubicBezTo>
                  <a:pt x="7198" y="9319"/>
                  <a:pt x="9200" y="7277"/>
                  <a:pt x="9230" y="4769"/>
                </a:cubicBezTo>
                <a:lnTo>
                  <a:pt x="9230" y="4709"/>
                </a:lnTo>
                <a:cubicBezTo>
                  <a:pt x="9230" y="4253"/>
                  <a:pt x="9170" y="3817"/>
                  <a:pt x="9042" y="3401"/>
                </a:cubicBezTo>
                <a:cubicBezTo>
                  <a:pt x="8476" y="1438"/>
                  <a:pt x="6663" y="1"/>
                  <a:pt x="452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917;p35">
            <a:extLst>
              <a:ext uri="{FF2B5EF4-FFF2-40B4-BE49-F238E27FC236}">
                <a16:creationId xmlns:a16="http://schemas.microsoft.com/office/drawing/2014/main" id="{D5B369CF-14C0-678A-AAEC-FEE2EC2C68D0}"/>
              </a:ext>
            </a:extLst>
          </p:cNvPr>
          <p:cNvSpPr/>
          <p:nvPr/>
        </p:nvSpPr>
        <p:spPr>
          <a:xfrm>
            <a:off x="3010448" y="1505755"/>
            <a:ext cx="1294088" cy="1294306"/>
          </a:xfrm>
          <a:custGeom>
            <a:avLst/>
            <a:gdLst/>
            <a:ahLst/>
            <a:cxnLst/>
            <a:rect l="l" t="t" r="r" b="b"/>
            <a:pathLst>
              <a:path w="6404" h="6405" extrusionOk="0">
                <a:moveTo>
                  <a:pt x="3202" y="1"/>
                </a:moveTo>
                <a:cubicBezTo>
                  <a:pt x="1438" y="1"/>
                  <a:pt x="0" y="1438"/>
                  <a:pt x="0" y="3202"/>
                </a:cubicBezTo>
                <a:cubicBezTo>
                  <a:pt x="0" y="4967"/>
                  <a:pt x="1438" y="6405"/>
                  <a:pt x="3202" y="6405"/>
                </a:cubicBezTo>
                <a:cubicBezTo>
                  <a:pt x="4967" y="6405"/>
                  <a:pt x="6404" y="4967"/>
                  <a:pt x="6404" y="3202"/>
                </a:cubicBezTo>
                <a:cubicBezTo>
                  <a:pt x="6404" y="1438"/>
                  <a:pt x="4967" y="1"/>
                  <a:pt x="3202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918;p35">
            <a:extLst>
              <a:ext uri="{FF2B5EF4-FFF2-40B4-BE49-F238E27FC236}">
                <a16:creationId xmlns:a16="http://schemas.microsoft.com/office/drawing/2014/main" id="{CD280AE3-CCB8-1B7A-DDA8-34B9678C857D}"/>
              </a:ext>
            </a:extLst>
          </p:cNvPr>
          <p:cNvSpPr txBox="1"/>
          <p:nvPr/>
        </p:nvSpPr>
        <p:spPr>
          <a:xfrm>
            <a:off x="3170150" y="2124197"/>
            <a:ext cx="968700" cy="2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3000" b="1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1" name="Google Shape;919;p35">
            <a:extLst>
              <a:ext uri="{FF2B5EF4-FFF2-40B4-BE49-F238E27FC236}">
                <a16:creationId xmlns:a16="http://schemas.microsoft.com/office/drawing/2014/main" id="{40347748-BAB5-A866-D687-813922FF7C33}"/>
              </a:ext>
            </a:extLst>
          </p:cNvPr>
          <p:cNvSpPr txBox="1"/>
          <p:nvPr/>
        </p:nvSpPr>
        <p:spPr>
          <a:xfrm>
            <a:off x="3170075" y="1812300"/>
            <a:ext cx="968700" cy="2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Step</a:t>
            </a:r>
            <a:endParaRPr sz="1800" b="1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2" name="Google Shape;920;p35">
            <a:extLst>
              <a:ext uri="{FF2B5EF4-FFF2-40B4-BE49-F238E27FC236}">
                <a16:creationId xmlns:a16="http://schemas.microsoft.com/office/drawing/2014/main" id="{6EE70DAC-0B0D-6839-1A48-448FB9177017}"/>
              </a:ext>
            </a:extLst>
          </p:cNvPr>
          <p:cNvSpPr txBox="1"/>
          <p:nvPr/>
        </p:nvSpPr>
        <p:spPr>
          <a:xfrm>
            <a:off x="2748275" y="3891125"/>
            <a:ext cx="1812300" cy="8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Priorizar clientes com maior potencial de volume e recorrência.</a:t>
            </a:r>
            <a:endParaRPr lang="en-US" sz="1200" dirty="0">
              <a:solidFill>
                <a:schemeClr val="bg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" name="Google Shape;921;p35">
            <a:extLst>
              <a:ext uri="{FF2B5EF4-FFF2-40B4-BE49-F238E27FC236}">
                <a16:creationId xmlns:a16="http://schemas.microsoft.com/office/drawing/2014/main" id="{9F3BE63A-7D35-A7EA-5D6F-2F92307BD544}"/>
              </a:ext>
            </a:extLst>
          </p:cNvPr>
          <p:cNvSpPr/>
          <p:nvPr/>
        </p:nvSpPr>
        <p:spPr>
          <a:xfrm>
            <a:off x="4570878" y="1201224"/>
            <a:ext cx="1867173" cy="2318031"/>
          </a:xfrm>
          <a:custGeom>
            <a:avLst/>
            <a:gdLst/>
            <a:ahLst/>
            <a:cxnLst/>
            <a:rect l="l" t="t" r="r" b="b"/>
            <a:pathLst>
              <a:path w="9240" h="11471" extrusionOk="0">
                <a:moveTo>
                  <a:pt x="4531" y="1"/>
                </a:moveTo>
                <a:cubicBezTo>
                  <a:pt x="2389" y="1"/>
                  <a:pt x="576" y="1438"/>
                  <a:pt x="1" y="3401"/>
                </a:cubicBezTo>
                <a:cubicBezTo>
                  <a:pt x="129" y="3817"/>
                  <a:pt x="189" y="4253"/>
                  <a:pt x="189" y="4709"/>
                </a:cubicBezTo>
                <a:lnTo>
                  <a:pt x="189" y="4769"/>
                </a:lnTo>
                <a:cubicBezTo>
                  <a:pt x="199" y="4749"/>
                  <a:pt x="199" y="4729"/>
                  <a:pt x="199" y="4709"/>
                </a:cubicBezTo>
                <a:cubicBezTo>
                  <a:pt x="199" y="2321"/>
                  <a:pt x="2142" y="378"/>
                  <a:pt x="4531" y="378"/>
                </a:cubicBezTo>
                <a:cubicBezTo>
                  <a:pt x="6920" y="378"/>
                  <a:pt x="8863" y="2321"/>
                  <a:pt x="8863" y="4709"/>
                </a:cubicBezTo>
                <a:cubicBezTo>
                  <a:pt x="8863" y="7099"/>
                  <a:pt x="6920" y="9042"/>
                  <a:pt x="4531" y="9042"/>
                </a:cubicBezTo>
                <a:cubicBezTo>
                  <a:pt x="4422" y="9042"/>
                  <a:pt x="4343" y="9121"/>
                  <a:pt x="4343" y="9230"/>
                </a:cubicBezTo>
                <a:lnTo>
                  <a:pt x="4343" y="10826"/>
                </a:lnTo>
                <a:lnTo>
                  <a:pt x="3579" y="10062"/>
                </a:lnTo>
                <a:cubicBezTo>
                  <a:pt x="3539" y="10023"/>
                  <a:pt x="3490" y="10003"/>
                  <a:pt x="3441" y="10003"/>
                </a:cubicBezTo>
                <a:cubicBezTo>
                  <a:pt x="3393" y="10003"/>
                  <a:pt x="3346" y="10023"/>
                  <a:pt x="3312" y="10062"/>
                </a:cubicBezTo>
                <a:cubicBezTo>
                  <a:pt x="3232" y="10132"/>
                  <a:pt x="3232" y="10251"/>
                  <a:pt x="3312" y="10330"/>
                </a:cubicBezTo>
                <a:lnTo>
                  <a:pt x="4392" y="11421"/>
                </a:lnTo>
                <a:cubicBezTo>
                  <a:pt x="4431" y="11450"/>
                  <a:pt x="4481" y="11470"/>
                  <a:pt x="4531" y="11470"/>
                </a:cubicBezTo>
                <a:cubicBezTo>
                  <a:pt x="4581" y="11470"/>
                  <a:pt x="4630" y="11450"/>
                  <a:pt x="4660" y="11421"/>
                </a:cubicBezTo>
                <a:lnTo>
                  <a:pt x="5750" y="10330"/>
                </a:lnTo>
                <a:cubicBezTo>
                  <a:pt x="5830" y="10251"/>
                  <a:pt x="5830" y="10132"/>
                  <a:pt x="5750" y="10062"/>
                </a:cubicBezTo>
                <a:cubicBezTo>
                  <a:pt x="5715" y="10023"/>
                  <a:pt x="5668" y="10003"/>
                  <a:pt x="5620" y="10003"/>
                </a:cubicBezTo>
                <a:cubicBezTo>
                  <a:pt x="5571" y="10003"/>
                  <a:pt x="5522" y="10023"/>
                  <a:pt x="5482" y="10062"/>
                </a:cubicBezTo>
                <a:lnTo>
                  <a:pt x="4719" y="10826"/>
                </a:lnTo>
                <a:lnTo>
                  <a:pt x="4719" y="9418"/>
                </a:lnTo>
                <a:cubicBezTo>
                  <a:pt x="7227" y="9319"/>
                  <a:pt x="9240" y="7247"/>
                  <a:pt x="9240" y="4709"/>
                </a:cubicBezTo>
                <a:cubicBezTo>
                  <a:pt x="9240" y="4253"/>
                  <a:pt x="9170" y="3808"/>
                  <a:pt x="9051" y="3381"/>
                </a:cubicBezTo>
                <a:cubicBezTo>
                  <a:pt x="8476" y="1428"/>
                  <a:pt x="6672" y="1"/>
                  <a:pt x="453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922;p35">
            <a:extLst>
              <a:ext uri="{FF2B5EF4-FFF2-40B4-BE49-F238E27FC236}">
                <a16:creationId xmlns:a16="http://schemas.microsoft.com/office/drawing/2014/main" id="{F6D61160-C95A-475F-9A5D-65B8B2F076EB}"/>
              </a:ext>
            </a:extLst>
          </p:cNvPr>
          <p:cNvSpPr/>
          <p:nvPr/>
        </p:nvSpPr>
        <p:spPr>
          <a:xfrm>
            <a:off x="4839437" y="1505755"/>
            <a:ext cx="1294088" cy="1294306"/>
          </a:xfrm>
          <a:custGeom>
            <a:avLst/>
            <a:gdLst/>
            <a:ahLst/>
            <a:cxnLst/>
            <a:rect l="l" t="t" r="r" b="b"/>
            <a:pathLst>
              <a:path w="6404" h="6405" extrusionOk="0">
                <a:moveTo>
                  <a:pt x="3202" y="1"/>
                </a:moveTo>
                <a:cubicBezTo>
                  <a:pt x="1437" y="1"/>
                  <a:pt x="0" y="1438"/>
                  <a:pt x="0" y="3202"/>
                </a:cubicBezTo>
                <a:cubicBezTo>
                  <a:pt x="0" y="4967"/>
                  <a:pt x="1437" y="6405"/>
                  <a:pt x="3202" y="6405"/>
                </a:cubicBezTo>
                <a:cubicBezTo>
                  <a:pt x="4966" y="6405"/>
                  <a:pt x="6404" y="4967"/>
                  <a:pt x="6404" y="3202"/>
                </a:cubicBezTo>
                <a:cubicBezTo>
                  <a:pt x="6404" y="1438"/>
                  <a:pt x="4966" y="1"/>
                  <a:pt x="320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923;p35">
            <a:extLst>
              <a:ext uri="{FF2B5EF4-FFF2-40B4-BE49-F238E27FC236}">
                <a16:creationId xmlns:a16="http://schemas.microsoft.com/office/drawing/2014/main" id="{EC19EB39-A9A2-1BE6-0C58-810685704AD6}"/>
              </a:ext>
            </a:extLst>
          </p:cNvPr>
          <p:cNvSpPr txBox="1"/>
          <p:nvPr/>
        </p:nvSpPr>
        <p:spPr>
          <a:xfrm>
            <a:off x="4996825" y="2124197"/>
            <a:ext cx="968700" cy="2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03</a:t>
            </a:r>
            <a:endParaRPr sz="3000" b="1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6" name="Google Shape;924;p35">
            <a:extLst>
              <a:ext uri="{FF2B5EF4-FFF2-40B4-BE49-F238E27FC236}">
                <a16:creationId xmlns:a16="http://schemas.microsoft.com/office/drawing/2014/main" id="{C3432832-EE18-A7E4-A988-1FFAE361C7A0}"/>
              </a:ext>
            </a:extLst>
          </p:cNvPr>
          <p:cNvSpPr txBox="1"/>
          <p:nvPr/>
        </p:nvSpPr>
        <p:spPr>
          <a:xfrm>
            <a:off x="4996750" y="1812300"/>
            <a:ext cx="968700" cy="2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Step</a:t>
            </a:r>
            <a:endParaRPr sz="1800" b="1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7" name="Google Shape;925;p35">
            <a:extLst>
              <a:ext uri="{FF2B5EF4-FFF2-40B4-BE49-F238E27FC236}">
                <a16:creationId xmlns:a16="http://schemas.microsoft.com/office/drawing/2014/main" id="{C30BD0A0-75F4-D1BB-09B1-0C2892B491F8}"/>
              </a:ext>
            </a:extLst>
          </p:cNvPr>
          <p:cNvSpPr txBox="1"/>
          <p:nvPr/>
        </p:nvSpPr>
        <p:spPr>
          <a:xfrm>
            <a:off x="4574950" y="3891125"/>
            <a:ext cx="1812300" cy="8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Incentivar migração de clientes sem plataforma para integração.</a:t>
            </a:r>
            <a:endParaRPr sz="1200" dirty="0">
              <a:solidFill>
                <a:schemeClr val="bg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" name="Google Shape;926;p35">
            <a:extLst>
              <a:ext uri="{FF2B5EF4-FFF2-40B4-BE49-F238E27FC236}">
                <a16:creationId xmlns:a16="http://schemas.microsoft.com/office/drawing/2014/main" id="{B06BDF2F-CA93-E29E-7C6C-EA9477620B57}"/>
              </a:ext>
            </a:extLst>
          </p:cNvPr>
          <p:cNvSpPr/>
          <p:nvPr/>
        </p:nvSpPr>
        <p:spPr>
          <a:xfrm>
            <a:off x="6399666" y="1201224"/>
            <a:ext cx="1865354" cy="2318031"/>
          </a:xfrm>
          <a:custGeom>
            <a:avLst/>
            <a:gdLst/>
            <a:ahLst/>
            <a:cxnLst/>
            <a:rect l="l" t="t" r="r" b="b"/>
            <a:pathLst>
              <a:path w="9231" h="11471" extrusionOk="0">
                <a:moveTo>
                  <a:pt x="4521" y="1"/>
                </a:moveTo>
                <a:cubicBezTo>
                  <a:pt x="2380" y="1"/>
                  <a:pt x="576" y="1428"/>
                  <a:pt x="1" y="3381"/>
                </a:cubicBezTo>
                <a:cubicBezTo>
                  <a:pt x="120" y="3808"/>
                  <a:pt x="190" y="4253"/>
                  <a:pt x="190" y="4709"/>
                </a:cubicBezTo>
                <a:cubicBezTo>
                  <a:pt x="190" y="2321"/>
                  <a:pt x="2133" y="378"/>
                  <a:pt x="4521" y="378"/>
                </a:cubicBezTo>
                <a:cubicBezTo>
                  <a:pt x="6911" y="378"/>
                  <a:pt x="8854" y="2321"/>
                  <a:pt x="8854" y="4709"/>
                </a:cubicBezTo>
                <a:cubicBezTo>
                  <a:pt x="8854" y="7099"/>
                  <a:pt x="6911" y="9042"/>
                  <a:pt x="4521" y="9042"/>
                </a:cubicBezTo>
                <a:cubicBezTo>
                  <a:pt x="4413" y="9042"/>
                  <a:pt x="4333" y="9121"/>
                  <a:pt x="4333" y="9230"/>
                </a:cubicBezTo>
                <a:lnTo>
                  <a:pt x="4333" y="10826"/>
                </a:lnTo>
                <a:lnTo>
                  <a:pt x="3570" y="10062"/>
                </a:lnTo>
                <a:cubicBezTo>
                  <a:pt x="3530" y="10023"/>
                  <a:pt x="3480" y="10003"/>
                  <a:pt x="3431" y="10003"/>
                </a:cubicBezTo>
                <a:cubicBezTo>
                  <a:pt x="3381" y="10003"/>
                  <a:pt x="3332" y="10023"/>
                  <a:pt x="3292" y="10062"/>
                </a:cubicBezTo>
                <a:cubicBezTo>
                  <a:pt x="3223" y="10132"/>
                  <a:pt x="3223" y="10251"/>
                  <a:pt x="3292" y="10330"/>
                </a:cubicBezTo>
                <a:lnTo>
                  <a:pt x="4383" y="11421"/>
                </a:lnTo>
                <a:cubicBezTo>
                  <a:pt x="4422" y="11450"/>
                  <a:pt x="4472" y="11470"/>
                  <a:pt x="4521" y="11470"/>
                </a:cubicBezTo>
                <a:cubicBezTo>
                  <a:pt x="4571" y="11470"/>
                  <a:pt x="4620" y="11450"/>
                  <a:pt x="4651" y="11421"/>
                </a:cubicBezTo>
                <a:lnTo>
                  <a:pt x="5741" y="10330"/>
                </a:lnTo>
                <a:cubicBezTo>
                  <a:pt x="5810" y="10251"/>
                  <a:pt x="5810" y="10132"/>
                  <a:pt x="5741" y="10062"/>
                </a:cubicBezTo>
                <a:cubicBezTo>
                  <a:pt x="5701" y="10023"/>
                  <a:pt x="5652" y="10003"/>
                  <a:pt x="5603" y="10003"/>
                </a:cubicBezTo>
                <a:cubicBezTo>
                  <a:pt x="5555" y="10003"/>
                  <a:pt x="5508" y="10023"/>
                  <a:pt x="5473" y="10062"/>
                </a:cubicBezTo>
                <a:lnTo>
                  <a:pt x="4710" y="10826"/>
                </a:lnTo>
                <a:lnTo>
                  <a:pt x="4710" y="9418"/>
                </a:lnTo>
                <a:cubicBezTo>
                  <a:pt x="7218" y="9319"/>
                  <a:pt x="9230" y="7247"/>
                  <a:pt x="9230" y="4709"/>
                </a:cubicBezTo>
                <a:cubicBezTo>
                  <a:pt x="9230" y="2112"/>
                  <a:pt x="7119" y="1"/>
                  <a:pt x="452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927;p35">
            <a:extLst>
              <a:ext uri="{FF2B5EF4-FFF2-40B4-BE49-F238E27FC236}">
                <a16:creationId xmlns:a16="http://schemas.microsoft.com/office/drawing/2014/main" id="{D2EBE1CB-1146-A302-4722-6343DE698E56}"/>
              </a:ext>
            </a:extLst>
          </p:cNvPr>
          <p:cNvSpPr/>
          <p:nvPr/>
        </p:nvSpPr>
        <p:spPr>
          <a:xfrm>
            <a:off x="6666204" y="1505755"/>
            <a:ext cx="1294290" cy="1294306"/>
          </a:xfrm>
          <a:custGeom>
            <a:avLst/>
            <a:gdLst/>
            <a:ahLst/>
            <a:cxnLst/>
            <a:rect l="l" t="t" r="r" b="b"/>
            <a:pathLst>
              <a:path w="6405" h="6405" extrusionOk="0">
                <a:moveTo>
                  <a:pt x="3202" y="1"/>
                </a:moveTo>
                <a:cubicBezTo>
                  <a:pt x="1438" y="1"/>
                  <a:pt x="1" y="1438"/>
                  <a:pt x="1" y="3202"/>
                </a:cubicBezTo>
                <a:cubicBezTo>
                  <a:pt x="1" y="4967"/>
                  <a:pt x="1438" y="6405"/>
                  <a:pt x="3202" y="6405"/>
                </a:cubicBezTo>
                <a:cubicBezTo>
                  <a:pt x="4967" y="6405"/>
                  <a:pt x="6405" y="4967"/>
                  <a:pt x="6405" y="3202"/>
                </a:cubicBezTo>
                <a:cubicBezTo>
                  <a:pt x="6405" y="1438"/>
                  <a:pt x="4967" y="1"/>
                  <a:pt x="320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928;p35">
            <a:extLst>
              <a:ext uri="{FF2B5EF4-FFF2-40B4-BE49-F238E27FC236}">
                <a16:creationId xmlns:a16="http://schemas.microsoft.com/office/drawing/2014/main" id="{888B3254-44B9-094F-EDB0-EF8D65D2EE62}"/>
              </a:ext>
            </a:extLst>
          </p:cNvPr>
          <p:cNvSpPr txBox="1"/>
          <p:nvPr/>
        </p:nvSpPr>
        <p:spPr>
          <a:xfrm>
            <a:off x="6823500" y="2124197"/>
            <a:ext cx="968700" cy="2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04</a:t>
            </a:r>
            <a:endParaRPr sz="3000" b="1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1" name="Google Shape;929;p35">
            <a:extLst>
              <a:ext uri="{FF2B5EF4-FFF2-40B4-BE49-F238E27FC236}">
                <a16:creationId xmlns:a16="http://schemas.microsoft.com/office/drawing/2014/main" id="{C20ADC30-360D-4FD2-78C4-1A9DAE0797AC}"/>
              </a:ext>
            </a:extLst>
          </p:cNvPr>
          <p:cNvSpPr txBox="1"/>
          <p:nvPr/>
        </p:nvSpPr>
        <p:spPr>
          <a:xfrm>
            <a:off x="6823425" y="1812300"/>
            <a:ext cx="968700" cy="2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Step</a:t>
            </a:r>
            <a:endParaRPr sz="1800" b="1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2" name="Google Shape;930;p35">
            <a:extLst>
              <a:ext uri="{FF2B5EF4-FFF2-40B4-BE49-F238E27FC236}">
                <a16:creationId xmlns:a16="http://schemas.microsoft.com/office/drawing/2014/main" id="{4630FDA7-C20D-7544-03C3-BE5C9EECE839}"/>
              </a:ext>
            </a:extLst>
          </p:cNvPr>
          <p:cNvSpPr txBox="1"/>
          <p:nvPr/>
        </p:nvSpPr>
        <p:spPr>
          <a:xfrm>
            <a:off x="6401625" y="3891125"/>
            <a:ext cx="1812300" cy="8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Monitorar aquisição mensal, receita e mix de clientes.</a:t>
            </a:r>
            <a:endParaRPr sz="1200" dirty="0">
              <a:solidFill>
                <a:schemeClr val="bg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" name="Google Shape;931;p35">
            <a:extLst>
              <a:ext uri="{FF2B5EF4-FFF2-40B4-BE49-F238E27FC236}">
                <a16:creationId xmlns:a16="http://schemas.microsoft.com/office/drawing/2014/main" id="{46484021-2AD6-3546-C495-2DADA8B0065B}"/>
              </a:ext>
            </a:extLst>
          </p:cNvPr>
          <p:cNvSpPr txBox="1"/>
          <p:nvPr/>
        </p:nvSpPr>
        <p:spPr>
          <a:xfrm>
            <a:off x="1102438" y="3558400"/>
            <a:ext cx="14589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 err="1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Revisão</a:t>
            </a:r>
            <a:endParaRPr sz="1800" dirty="0">
              <a:solidFill>
                <a:schemeClr val="accent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44" name="Google Shape;932;p35">
            <a:extLst>
              <a:ext uri="{FF2B5EF4-FFF2-40B4-BE49-F238E27FC236}">
                <a16:creationId xmlns:a16="http://schemas.microsoft.com/office/drawing/2014/main" id="{D3B18CCD-4DC9-5D9B-4A75-E6BF48DB0046}"/>
              </a:ext>
            </a:extLst>
          </p:cNvPr>
          <p:cNvSpPr txBox="1"/>
          <p:nvPr/>
        </p:nvSpPr>
        <p:spPr>
          <a:xfrm>
            <a:off x="6582663" y="3558400"/>
            <a:ext cx="1564387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 err="1">
                <a:solidFill>
                  <a:schemeClr val="accent4">
                    <a:lumMod val="50000"/>
                  </a:schemeClr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Monitoramento</a:t>
            </a:r>
            <a:endParaRPr sz="1800" dirty="0">
              <a:solidFill>
                <a:schemeClr val="accent4">
                  <a:lumMod val="50000"/>
                </a:schemeClr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45" name="Google Shape;933;p35">
            <a:extLst>
              <a:ext uri="{FF2B5EF4-FFF2-40B4-BE49-F238E27FC236}">
                <a16:creationId xmlns:a16="http://schemas.microsoft.com/office/drawing/2014/main" id="{9CA54B90-DA6D-7D58-3BEC-682A80394564}"/>
              </a:ext>
            </a:extLst>
          </p:cNvPr>
          <p:cNvSpPr txBox="1"/>
          <p:nvPr/>
        </p:nvSpPr>
        <p:spPr>
          <a:xfrm>
            <a:off x="2929313" y="3558400"/>
            <a:ext cx="14589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 err="1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Priorização</a:t>
            </a:r>
            <a:endParaRPr sz="1800" dirty="0">
              <a:solidFill>
                <a:schemeClr val="accent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46" name="Google Shape;934;p35">
            <a:extLst>
              <a:ext uri="{FF2B5EF4-FFF2-40B4-BE49-F238E27FC236}">
                <a16:creationId xmlns:a16="http://schemas.microsoft.com/office/drawing/2014/main" id="{D52A0C60-19AE-EF0B-F095-C02CE0ADB610}"/>
              </a:ext>
            </a:extLst>
          </p:cNvPr>
          <p:cNvSpPr txBox="1"/>
          <p:nvPr/>
        </p:nvSpPr>
        <p:spPr>
          <a:xfrm>
            <a:off x="4755988" y="3558413"/>
            <a:ext cx="14589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 err="1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Motivação</a:t>
            </a:r>
            <a:endParaRPr sz="1800" dirty="0">
              <a:solidFill>
                <a:schemeClr val="accent4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</p:spTree>
    <p:extLst>
      <p:ext uri="{BB962C8B-B14F-4D97-AF65-F5344CB8AC3E}">
        <p14:creationId xmlns:p14="http://schemas.microsoft.com/office/powerpoint/2010/main" val="133516238"/>
      </p:ext>
    </p:extLst>
  </p:cSld>
  <p:clrMapOvr>
    <a:masterClrMapping/>
  </p:clrMapOvr>
</p:sld>
</file>

<file path=ppt/theme/theme1.xml><?xml version="1.0" encoding="utf-8"?>
<a:theme xmlns:a="http://schemas.openxmlformats.org/drawingml/2006/main" name="Strategic Planning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FEFEF"/>
      </a:lt2>
      <a:accent1>
        <a:srgbClr val="A4EBFC"/>
      </a:accent1>
      <a:accent2>
        <a:srgbClr val="52DEFF"/>
      </a:accent2>
      <a:accent3>
        <a:srgbClr val="3DC6EF"/>
      </a:accent3>
      <a:accent4>
        <a:srgbClr val="2FA6D6"/>
      </a:accent4>
      <a:accent5>
        <a:srgbClr val="00719E"/>
      </a:accent5>
      <a:accent6>
        <a:srgbClr val="024668"/>
      </a:accent6>
      <a:hlink>
        <a:srgbClr val="00354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193</Words>
  <Application>Microsoft Office PowerPoint</Application>
  <PresentationFormat>Apresentação na tela (16:9)</PresentationFormat>
  <Paragraphs>59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Arial</vt:lpstr>
      <vt:lpstr>Fira Sans Extra Condensed Medium</vt:lpstr>
      <vt:lpstr>Fira Sans Extra Condensed</vt:lpstr>
      <vt:lpstr>Roboto</vt:lpstr>
      <vt:lpstr>Strategic Planning infographics by Slidesgo</vt:lpstr>
      <vt:lpstr>Analise e Estratégia Logística</vt:lpstr>
      <vt:lpstr>Estratégia</vt:lpstr>
      <vt:lpstr>Analise de Caso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Ecommerce | Furkin</cp:lastModifiedBy>
  <cp:revision>6</cp:revision>
  <dcterms:modified xsi:type="dcterms:W3CDTF">2026-02-16T10:20:10Z</dcterms:modified>
</cp:coreProperties>
</file>